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rts/chart1.xml" ContentType="application/vnd.openxmlformats-officedocument.drawingml.chart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9" Type="http://schemas.openxmlformats.org/officeDocument/2006/relationships/slide" Target="slides/slide2.xml" /><ns0:Relationship Id="rId10" Type="http://schemas.openxmlformats.org/officeDocument/2006/relationships/slide" Target="slides/slide3.xml" /><ns0:Relationship Id="rId11" Type="http://schemas.openxmlformats.org/officeDocument/2006/relationships/slide" Target="slides/slide4.xml" /><ns0:Relationship Id="rId12" Type="http://schemas.openxmlformats.org/officeDocument/2006/relationships/slide" Target="slides/slide5.xml" /><ns0:Relationship Id="rId13" Type="http://schemas.openxmlformats.org/officeDocument/2006/relationships/slide" Target="slides/slide6.xml" /><ns0:Relationship Id="rId14" Type="http://schemas.openxmlformats.org/officeDocument/2006/relationships/slide" Target="slides/slide7.xml" /><ns0:Relationship Id="rId15" Type="http://schemas.openxmlformats.org/officeDocument/2006/relationships/slide" Target="slides/slide8.xml" /><ns0:Relationship Id="rId16" Type="http://schemas.openxmlformats.org/officeDocument/2006/relationships/slide" Target="slides/slide9.xml" /><ns0:Relationship Id="rId17" Type="http://schemas.openxmlformats.org/officeDocument/2006/relationships/slide" Target="slides/slide10.xml" /><ns0:Relationship Id="rId18" Type="http://schemas.openxmlformats.org/officeDocument/2006/relationships/slide" Target="slides/slide11.xml" /><ns0:Relationship Id="rId19" Type="http://schemas.openxmlformats.org/officeDocument/2006/relationships/slide" Target="slides/slide12.xml" /><ns0:Relationship Id="rId20" Type="http://schemas.openxmlformats.org/officeDocument/2006/relationships/slide" Target="slides/slide13.xml" /><ns0:Relationship Id="rId21" Type="http://schemas.openxmlformats.org/officeDocument/2006/relationships/slide" Target="slides/slide14.xml" /><ns0:Relationship Id="rId22" Type="http://schemas.openxmlformats.org/officeDocument/2006/relationships/slide" Target="slides/slide15.xml" /><ns0:Relationship Id="rId23" Type="http://schemas.openxmlformats.org/officeDocument/2006/relationships/slide" Target="slides/slide16.xml" /><ns0:Relationship Id="rId24" Type="http://schemas.openxmlformats.org/officeDocument/2006/relationships/slide" Target="slides/slide17.xml" /></ns0: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Flat</c:v>
                </c:pt>
              </c:strCache>
            </c:strRef>
          </c:tx>
          <c:spPr>
            <a:solidFill>
              <a:srgbClr val="AFB9C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Demo +50 · n=50</c:v>
                </c:pt>
                <c:pt idx="1">
                  <c:v>Demo +100 · n=50</c:v>
                </c:pt>
                <c:pt idx="2">
                  <c:v>Live goal · n=20</c:v>
                </c:pt>
                <c:pt idx="3">
                  <c:v>Word templates · n=64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0.2</c:v>
                </c:pt>
                <c:pt idx="2">
                  <c:v>0</c:v>
                </c:pt>
                <c:pt idx="3">
                  <c:v>0.28125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Breadcrumbs</c:v>
                </c:pt>
              </c:strCache>
            </c:strRef>
          </c:tx>
          <c:spPr>
            <a:solidFill>
              <a:srgbClr val="067F7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Demo +50 · n=50</c:v>
                </c:pt>
                <c:pt idx="1">
                  <c:v>Demo +100 · n=50</c:v>
                </c:pt>
                <c:pt idx="2">
                  <c:v>Live goal · n=20</c:v>
                </c:pt>
                <c:pt idx="3">
                  <c:v>Word templates · n=64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</c:v>
                </c:pt>
                <c:pt idx="1">
                  <c:v>0.58</c:v>
                </c:pt>
                <c:pt idx="2">
                  <c:v>0.15</c:v>
                </c:pt>
                <c:pt idx="3">
                  <c:v>0.53125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DDE3E4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0.25"/>
      </c:valAx>
    </c:plotArea>
    <c:legend>
      <c:legendPos val="b"/>
      <c:txPr>
        <a:bodyPr/>
        <a:lstStyle/>
        <a:p>
          <a:pPr>
            <a:defRPr sz="13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chart" Target="../charts/chart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2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3.png" /><ns0:Relationship Id="rId3" Type="http://schemas.openxmlformats.org/officeDocument/2006/relationships/image" Target="../media/image4.png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COURSE DEFENCE · 23 OCTOBER 2026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EEEA"/>
                </a:solidFill>
                <a:latin typeface="Arial"/>
              </a:defRPr>
            </a:pPr>
            <a:r>
              <a:t>COURSE DEFENCE · 23 OCTOBER 2026</a:t>
            </a:r>
          </a:p>
        </p:txBody>
      </p:sp>
      <p:sp>
        <p:nvSpPr>
          <p:cNvPr id="3" name="TextBox 2" descr="Language over demo breadcrumbs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Language over demo breadcrumbs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61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D9EEEA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6" name="TextBox 5" descr="01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D9EEE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 descr="Frozen LeWorldModel on Push-T"/>
          <p:cNvSpPr txBox="1"/>
          <p:nvPr/>
        </p:nvSpPr>
        <p:spPr>
          <a:xfrm>
            <a:off x="548640" y="1536192"/>
            <a:ext cx="9875520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D9EEEA"/>
                </a:solidFill>
                <a:latin typeface="Arial"/>
              </a:defRPr>
            </a:pPr>
            <a:r>
              <a:t>Frozen LeWorldModel on Push-T</a:t>
            </a:r>
          </a:p>
        </p:txBody>
      </p:sp>
      <p:sp>
        <p:nvSpPr>
          <p:cNvPr id="8" name="TextBox 7" descr="Words name the goal.&#10;Demonstrations supply the steps."/>
          <p:cNvSpPr txBox="1"/>
          <p:nvPr/>
        </p:nvSpPr>
        <p:spPr>
          <a:xfrm>
            <a:off x="548640" y="2487168"/>
            <a:ext cx="7040880" cy="10058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Words name the goal.</a:t>
            </a:r>
          </a:p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Demonstrations supply the steps.</a:t>
            </a:r>
          </a:p>
        </p:txBody>
      </p:sp>
      <p:sp>
        <p:nvSpPr>
          <p:cNvPr id="9" name="TextBox 8" descr="A language interface for a planner&#10;that is reliable over short hops."/>
          <p:cNvSpPr txBox="1"/>
          <p:nvPr/>
        </p:nvSpPr>
        <p:spPr>
          <a:xfrm>
            <a:off x="557784" y="3886200"/>
            <a:ext cx="640080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D9EEEA"/>
                </a:solidFill>
                <a:latin typeface="Arial"/>
              </a:defRPr>
            </a:pPr>
            <a:r>
              <a:t>A language interface for a planner</a:t>
            </a:r>
          </a:p>
          <a:p>
            <a:pPr>
              <a:spcAft>
                <a:spcPts val="600"/>
              </a:spcAft>
              <a:defRPr sz="2100" b="0">
                <a:solidFill>
                  <a:srgbClr val="D9EEEA"/>
                </a:solidFill>
                <a:latin typeface="Arial"/>
              </a:defRPr>
            </a:pPr>
            <a:r>
              <a:t>that is reliable over short hops.</a:t>
            </a:r>
          </a:p>
        </p:txBody>
      </p:sp>
      <p:sp>
        <p:nvSpPr>
          <p:cNvPr id="10" name="TextBox 9" descr="Alexander Bashirov   ·   Didar Seyidov   ·   Faith Ogunwoye"/>
          <p:cNvSpPr txBox="1"/>
          <p:nvPr/>
        </p:nvSpPr>
        <p:spPr>
          <a:xfrm>
            <a:off x="557784" y="5303520"/>
            <a:ext cx="7498079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Alexander Bashirov   ·   Didar Seyidov   ·   Faith Ogunwoye</a:t>
            </a:r>
          </a:p>
        </p:txBody>
      </p:sp>
      <p:sp>
        <p:nvSpPr>
          <p:cNvPr id="11" name="TextBox 10" descr="Skoltech"/>
          <p:cNvSpPr txBox="1"/>
          <p:nvPr/>
        </p:nvSpPr>
        <p:spPr>
          <a:xfrm>
            <a:off x="557784" y="5916168"/>
            <a:ext cx="914400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D9EEEA"/>
                </a:solidFill>
                <a:latin typeface="Arial"/>
              </a:defRPr>
            </a:pPr>
            <a:r>
              <a:t>Skoltech</a:t>
            </a:r>
          </a:p>
        </p:txBody>
      </p:sp>
      <p:pic>
        <p:nvPicPr>
          <p:cNvPr id="12" name="Picture 11" descr="pusht_logged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029968"/>
            <a:ext cx="3063240" cy="3063240"/>
          </a:xfrm>
          <a:prstGeom prst="rect">
            <a:avLst/>
          </a:prstGeom>
        </p:spPr>
      </p:pic>
      <p:sp>
        <p:nvSpPr>
          <p:cNvPr id="13" name="TextBox 12" descr="Push-T · logged start state"/>
          <p:cNvSpPr txBox="1"/>
          <p:nvPr/>
        </p:nvSpPr>
        <p:spPr>
          <a:xfrm>
            <a:off x="8229600" y="5175504"/>
            <a:ext cx="31089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D9EEEA"/>
                </a:solidFill>
                <a:latin typeface="Arial"/>
              </a:defRPr>
            </a:pPr>
            <a:r>
              <a:t>Push-T · logged start state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0 · WHAT IS NEW HERE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00 · WHAT IS NEW HERE</a:t>
            </a:r>
          </a:p>
        </p:txBody>
      </p:sp>
      <p:sp>
        <p:nvSpPr>
          <p:cNvPr id="3" name="TextBox 2" descr="Four things this project adds to a frozen world model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Four things this project adds to a frozen world model.</a:t>
            </a:r>
          </a:p>
        </p:txBody>
      </p:sp>
      <p:sp>
        <p:nvSpPr>
          <p:cNvPr id="4" name="TextBox 3" descr="LeWM and its planner are used unchanged. Everything new sits around them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LeWM and its planner are used unchanged. Everything new sits around them.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2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548640" y="2212848"/>
            <a:ext cx="544068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 descr=""/>
          <p:cNvSpPr/>
          <p:nvPr/>
        </p:nvSpPr>
        <p:spPr>
          <a:xfrm>
            <a:off x="768096" y="2450591"/>
            <a:ext cx="475488" cy="475488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 descr="01"/>
          <p:cNvSpPr txBox="1"/>
          <p:nvPr/>
        </p:nvSpPr>
        <p:spPr>
          <a:xfrm>
            <a:off x="768096" y="2487168"/>
            <a:ext cx="475488" cy="4480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 descr="Words name the goal"/>
          <p:cNvSpPr txBox="1"/>
          <p:nvPr/>
        </p:nvSpPr>
        <p:spPr>
          <a:xfrm>
            <a:off x="1444752" y="2414016"/>
            <a:ext cx="434340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42A3B"/>
                </a:solidFill>
                <a:latin typeface="Arial"/>
              </a:defRPr>
            </a:pPr>
            <a:r>
              <a:t>Words name the goal</a:t>
            </a:r>
          </a:p>
        </p:txBody>
      </p:sp>
      <p:sp>
        <p:nvSpPr>
          <p:cNvPr id="12" name="TextBox 11" descr="A sentence becomes a goal region (on target, turn by θ, push by d) instead of one goal image. A small local LLM parses it: 101/120 unseen sentences."/>
          <p:cNvSpPr txBox="1"/>
          <p:nvPr/>
        </p:nvSpPr>
        <p:spPr>
          <a:xfrm>
            <a:off x="1444752" y="2889504"/>
            <a:ext cx="434340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B"/>
                </a:solidFill>
                <a:latin typeface="Arial"/>
              </a:defRPr>
            </a:pPr>
            <a:r>
              <a:t>A sentence becomes a goal region (on target, turn by θ, push by d) instead of one goal image. A small local LLM parses it: 101/120 unseen sentences.</a:t>
            </a:r>
          </a:p>
        </p:txBody>
      </p:sp>
      <p:sp>
        <p:nvSpPr>
          <p:cNvPr id="13" name="Rounded Rectangle 12" descr=""/>
          <p:cNvSpPr/>
          <p:nvPr/>
        </p:nvSpPr>
        <p:spPr>
          <a:xfrm>
            <a:off x="6172200" y="2212848"/>
            <a:ext cx="544068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 descr=""/>
          <p:cNvSpPr/>
          <p:nvPr/>
        </p:nvSpPr>
        <p:spPr>
          <a:xfrm>
            <a:off x="6391656" y="2450591"/>
            <a:ext cx="475488" cy="475488"/>
          </a:xfrm>
          <a:prstGeom prst="ellipse">
            <a:avLst/>
          </a:prstGeom>
          <a:solidFill>
            <a:srgbClr val="35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 descr="02"/>
          <p:cNvSpPr txBox="1"/>
          <p:nvPr/>
        </p:nvSpPr>
        <p:spPr>
          <a:xfrm>
            <a:off x="6391656" y="2487168"/>
            <a:ext cx="475488" cy="4480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 descr="Routes across many demos"/>
          <p:cNvSpPr txBox="1"/>
          <p:nvPr/>
        </p:nvSpPr>
        <p:spPr>
          <a:xfrm>
            <a:off x="7068312" y="2414016"/>
            <a:ext cx="434340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42A3B"/>
                </a:solidFill>
                <a:latin typeface="Arial"/>
              </a:defRPr>
            </a:pPr>
            <a:r>
              <a:t>Routes across many demos</a:t>
            </a:r>
          </a:p>
        </p:txBody>
      </p:sp>
      <p:sp>
        <p:nvSpPr>
          <p:cNvPr id="17" name="TextBox 16" descr="A graph over 427,396 demo states links different demos where they pass close by, so a route exists from starts no demo began at."/>
          <p:cNvSpPr txBox="1"/>
          <p:nvPr/>
        </p:nvSpPr>
        <p:spPr>
          <a:xfrm>
            <a:off x="7068312" y="2889504"/>
            <a:ext cx="434340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B"/>
                </a:solidFill>
                <a:latin typeface="Arial"/>
              </a:defRPr>
            </a:pPr>
            <a:r>
              <a:t>A graph over 427,396 demo states links different demos where they pass close by, so a route exists from starts no demo began at.</a:t>
            </a:r>
          </a:p>
        </p:txBody>
      </p:sp>
      <p:sp>
        <p:nvSpPr>
          <p:cNvPr id="18" name="Rounded Rectangle 17" descr=""/>
          <p:cNvSpPr/>
          <p:nvPr/>
        </p:nvSpPr>
        <p:spPr>
          <a:xfrm>
            <a:off x="548640" y="4087368"/>
            <a:ext cx="544068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 descr=""/>
          <p:cNvSpPr/>
          <p:nvPr/>
        </p:nvSpPr>
        <p:spPr>
          <a:xfrm>
            <a:off x="768096" y="4325112"/>
            <a:ext cx="475488" cy="475488"/>
          </a:xfrm>
          <a:prstGeom prst="ellipse">
            <a:avLst/>
          </a:prstGeom>
          <a:solidFill>
            <a:srgbClr val="B96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 descr="03"/>
          <p:cNvSpPr txBox="1"/>
          <p:nvPr/>
        </p:nvSpPr>
        <p:spPr>
          <a:xfrm>
            <a:off x="768096" y="4361688"/>
            <a:ext cx="475488" cy="4480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 descr="Short hops reach far goals"/>
          <p:cNvSpPr txBox="1"/>
          <p:nvPr/>
        </p:nvSpPr>
        <p:spPr>
          <a:xfrm>
            <a:off x="1444752" y="4288536"/>
            <a:ext cx="434340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42A3B"/>
                </a:solidFill>
                <a:latin typeface="Arial"/>
              </a:defRPr>
            </a:pPr>
            <a:r>
              <a:t>Short hops reach far goals</a:t>
            </a:r>
          </a:p>
        </p:txBody>
      </p:sp>
      <p:sp>
        <p:nvSpPr>
          <p:cNvPr id="22" name="TextBox 21" descr="The planner only ever chases a demo frame about 25 steps away. Goals 100 steps out: 10/50 → 29/50."/>
          <p:cNvSpPr txBox="1"/>
          <p:nvPr/>
        </p:nvSpPr>
        <p:spPr>
          <a:xfrm>
            <a:off x="1444752" y="4764024"/>
            <a:ext cx="434340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B"/>
                </a:solidFill>
                <a:latin typeface="Arial"/>
              </a:defRPr>
            </a:pPr>
            <a:r>
              <a:t>The planner only ever chases a demo frame about 25 steps away. Goals 100 steps out: 10/50 → 29/50.</a:t>
            </a:r>
          </a:p>
        </p:txBody>
      </p:sp>
      <p:sp>
        <p:nvSpPr>
          <p:cNvPr id="23" name="Rounded Rectangle 22" descr=""/>
          <p:cNvSpPr/>
          <p:nvPr/>
        </p:nvSpPr>
        <p:spPr>
          <a:xfrm>
            <a:off x="6172200" y="4087368"/>
            <a:ext cx="544068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 descr=""/>
          <p:cNvSpPr/>
          <p:nvPr/>
        </p:nvSpPr>
        <p:spPr>
          <a:xfrm>
            <a:off x="6391656" y="4325112"/>
            <a:ext cx="475488" cy="475488"/>
          </a:xfrm>
          <a:prstGeom prst="ellipse">
            <a:avLst/>
          </a:prstGeom>
          <a:solidFill>
            <a:srgbClr val="77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 descr="04"/>
          <p:cNvSpPr txBox="1"/>
          <p:nvPr/>
        </p:nvSpPr>
        <p:spPr>
          <a:xfrm>
            <a:off x="6391656" y="4361688"/>
            <a:ext cx="475488" cy="44805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 descr="Words straight into the latent"/>
          <p:cNvSpPr txBox="1"/>
          <p:nvPr/>
        </p:nvSpPr>
        <p:spPr>
          <a:xfrm>
            <a:off x="7068312" y="4288536"/>
            <a:ext cx="434340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42A3B"/>
                </a:solidFill>
                <a:latin typeface="Arial"/>
              </a:defRPr>
            </a:pPr>
            <a:r>
              <a:t>Words straight into the latent</a:t>
            </a:r>
          </a:p>
        </p:txBody>
      </p:sp>
      <p:sp>
        <p:nvSpPr>
          <p:cNvPr id="27" name="TextBox 26" descr="A text-conditioned head predicts the next subgoal latent, with no graph at test time. First signal: 18/111 vs 10/111 with shuffled words."/>
          <p:cNvSpPr txBox="1"/>
          <p:nvPr/>
        </p:nvSpPr>
        <p:spPr>
          <a:xfrm>
            <a:off x="7068312" y="4764024"/>
            <a:ext cx="434340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1717B"/>
                </a:solidFill>
                <a:latin typeface="Arial"/>
              </a:defRPr>
            </a:pPr>
            <a:r>
              <a:t>A text-conditioned head predicts the next subgoal latent, with no graph at test time. First signal: 18/111 vs 10/111 with shuffled words.</a:t>
            </a:r>
          </a:p>
        </p:txBody>
      </p:sp>
      <p:sp>
        <p:nvSpPr>
          <p:cNvPr id="28" name="TextBox 27" descr="Prior work (Hi-LeWM) used later frames of the same demo as subgoals. Every claim here was frozen in git before its scored run."/>
          <p:cNvSpPr txBox="1"/>
          <p:nvPr/>
        </p:nvSpPr>
        <p:spPr>
          <a:xfrm>
            <a:off x="594360" y="5925312"/>
            <a:ext cx="10972800" cy="2926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Prior work (Hi-LeWM) used later frames of the same demo as subgoals. Every claim here was frozen in git before its scored run.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1 · THE PROBLEM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01 · THE PROBLEM</a:t>
            </a:r>
          </a:p>
        </p:txBody>
      </p:sp>
      <p:sp>
        <p:nvSpPr>
          <p:cNvPr id="3" name="TextBox 2" descr="A short hop works. A distant goal is harder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A short hop works. A distant goal is harder.</a:t>
            </a:r>
          </a:p>
        </p:txBody>
      </p:sp>
      <p:sp>
        <p:nvSpPr>
          <p:cNvPr id="4" name="TextBox 3" descr="LeWM stays frozen: it encodes an image into 192 values and predicts latents under actions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LeWM stays frozen: it encodes an image into 192 values and predicts latents under actions.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3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548640" y="2267712"/>
            <a:ext cx="3291840" cy="23225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SHORT DEMO GOAL"/>
          <p:cNvSpPr txBox="1"/>
          <p:nvPr/>
        </p:nvSpPr>
        <p:spPr>
          <a:xfrm>
            <a:off x="731520" y="2441448"/>
            <a:ext cx="2926080" cy="32918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SHORT DEMO GOAL</a:t>
            </a:r>
          </a:p>
        </p:txBody>
      </p:sp>
      <p:sp>
        <p:nvSpPr>
          <p:cNvPr id="10" name="TextBox 9" descr="47/50"/>
          <p:cNvSpPr txBox="1"/>
          <p:nvPr/>
        </p:nvSpPr>
        <p:spPr>
          <a:xfrm>
            <a:off x="731520" y="2926080"/>
            <a:ext cx="2926080" cy="7498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900" b="1">
                <a:solidFill>
                  <a:srgbClr val="067F7C"/>
                </a:solidFill>
                <a:latin typeface="Arial"/>
              </a:defRPr>
            </a:pPr>
            <a:r>
              <a:t>47/50</a:t>
            </a:r>
          </a:p>
        </p:txBody>
      </p:sp>
      <p:sp>
        <p:nvSpPr>
          <p:cNvPr id="11" name="TextBox 10" descr="25 steps ahead · budget 50&#10;5090 setup check"/>
          <p:cNvSpPr txBox="1"/>
          <p:nvPr/>
        </p:nvSpPr>
        <p:spPr>
          <a:xfrm>
            <a:off x="731520" y="3822191"/>
            <a:ext cx="292608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25 steps ahead · budget 50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5090 setup check</a:t>
            </a:r>
          </a:p>
        </p:txBody>
      </p:sp>
      <p:sp>
        <p:nvSpPr>
          <p:cNvPr id="12" name="Rounded Rectangle 11" descr=""/>
          <p:cNvSpPr/>
          <p:nvPr/>
        </p:nvSpPr>
        <p:spPr>
          <a:xfrm>
            <a:off x="4453128" y="2267712"/>
            <a:ext cx="3291840" cy="23225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 descr="LONG LIVE GOAL"/>
          <p:cNvSpPr txBox="1"/>
          <p:nvPr/>
        </p:nvSpPr>
        <p:spPr>
          <a:xfrm>
            <a:off x="4636008" y="2441448"/>
            <a:ext cx="2926080" cy="32918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96643"/>
                </a:solidFill>
                <a:latin typeface="Arial"/>
              </a:defRPr>
            </a:pPr>
            <a:r>
              <a:t>LONG LIVE GOAL</a:t>
            </a:r>
          </a:p>
        </p:txBody>
      </p:sp>
      <p:sp>
        <p:nvSpPr>
          <p:cNvPr id="14" name="TextBox 13" descr="0/20"/>
          <p:cNvSpPr txBox="1"/>
          <p:nvPr/>
        </p:nvSpPr>
        <p:spPr>
          <a:xfrm>
            <a:off x="4636008" y="2926080"/>
            <a:ext cx="2926080" cy="7498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900" b="1">
                <a:solidFill>
                  <a:srgbClr val="B96643"/>
                </a:solidFill>
                <a:latin typeface="Arial"/>
              </a:defRPr>
            </a:pPr>
            <a:r>
              <a:t>0/20</a:t>
            </a:r>
          </a:p>
        </p:txBody>
      </p:sp>
      <p:sp>
        <p:nvSpPr>
          <p:cNvPr id="15" name="TextBox 14" descr="Random live goals · budget 50&#10;Earlier 4090 run"/>
          <p:cNvSpPr txBox="1"/>
          <p:nvPr/>
        </p:nvSpPr>
        <p:spPr>
          <a:xfrm>
            <a:off x="4636008" y="3822191"/>
            <a:ext cx="292608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Random live goals · budget 50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Earlier 4090 run</a:t>
            </a:r>
          </a:p>
        </p:txBody>
      </p:sp>
      <p:sp>
        <p:nvSpPr>
          <p:cNvPr id="16" name="Rounded Rectangle 15" descr=""/>
          <p:cNvSpPr/>
          <p:nvPr/>
        </p:nvSpPr>
        <p:spPr>
          <a:xfrm>
            <a:off x="8357616" y="2267712"/>
            <a:ext cx="3291840" cy="23225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 descr="IN-PLACE TURN"/>
          <p:cNvSpPr txBox="1"/>
          <p:nvPr/>
        </p:nvSpPr>
        <p:spPr>
          <a:xfrm>
            <a:off x="8540496" y="2441448"/>
            <a:ext cx="2926080" cy="32918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7629D"/>
                </a:solidFill>
                <a:latin typeface="Arial"/>
              </a:defRPr>
            </a:pPr>
            <a:r>
              <a:t>IN-PLACE TURN</a:t>
            </a:r>
          </a:p>
        </p:txBody>
      </p:sp>
      <p:sp>
        <p:nvSpPr>
          <p:cNvPr id="18" name="TextBox 17" descr="0/20"/>
          <p:cNvSpPr txBox="1"/>
          <p:nvPr/>
        </p:nvSpPr>
        <p:spPr>
          <a:xfrm>
            <a:off x="8540496" y="2926080"/>
            <a:ext cx="2926080" cy="7498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900" b="1">
                <a:solidFill>
                  <a:srgbClr val="77629D"/>
                </a:solidFill>
                <a:latin typeface="Arial"/>
              </a:defRPr>
            </a:pPr>
            <a:r>
              <a:t>0/20</a:t>
            </a:r>
          </a:p>
        </p:txBody>
      </p:sp>
      <p:sp>
        <p:nvSpPr>
          <p:cNvPr id="19" name="TextBox 18" descr="Rendered +90° or +180° goal&#10;Budget 50 · each angle"/>
          <p:cNvSpPr txBox="1"/>
          <p:nvPr/>
        </p:nvSpPr>
        <p:spPr>
          <a:xfrm>
            <a:off x="8540496" y="3822191"/>
            <a:ext cx="292608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Rendered +90° or +180° goal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Budget 50 · each angle</a:t>
            </a:r>
          </a:p>
        </p:txBody>
      </p:sp>
      <p:sp>
        <p:nvSpPr>
          <p:cNvPr id="20" name="TextBox 19" descr="Course question: can a sentence name a goal&#10;this existing planner can actually follow?"/>
          <p:cNvSpPr txBox="1"/>
          <p:nvPr/>
        </p:nvSpPr>
        <p:spPr>
          <a:xfrm>
            <a:off x="594360" y="4828032"/>
            <a:ext cx="1097280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42A3B"/>
                </a:solidFill>
                <a:latin typeface="Arial"/>
              </a:defRPr>
            </a:pPr>
            <a:r>
              <a:t>Course question: can a sentence name a goal</a:t>
            </a:r>
          </a:p>
          <a:p>
            <a:pPr>
              <a:spcAft>
                <a:spcPts val="600"/>
              </a:spcAft>
              <a:defRPr sz="2600" b="1">
                <a:solidFill>
                  <a:srgbClr val="142A3B"/>
                </a:solidFill>
                <a:latin typeface="Arial"/>
              </a:defRPr>
            </a:pPr>
            <a:r>
              <a:t>this existing planner can actually follow?</a:t>
            </a:r>
          </a:p>
        </p:txBody>
      </p:sp>
      <p:sp>
        <p:nvSpPr>
          <p:cNvPr id="21" name="TextBox 20" descr="These are different goal settings, not a controlled horizon sweep. Earlier 4090 short-goal baseline: 45/50."/>
          <p:cNvSpPr txBox="1"/>
          <p:nvPr/>
        </p:nvSpPr>
        <p:spPr>
          <a:xfrm>
            <a:off x="594360" y="5907024"/>
            <a:ext cx="10972800" cy="28346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These are different goal settings, not a controlled horizon sweep. Earlier 4090 short-goal baseline: 45/50.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2 · WHAT WE TRIED FIRST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02 · WHAT WE TRIED FIRST</a:t>
            </a:r>
          </a:p>
        </p:txBody>
      </p:sp>
      <p:sp>
        <p:nvSpPr>
          <p:cNvPr id="3" name="TextBox 2" descr="The angle is encoded. Control is still the obstacle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The angle is encoded. Control is still the obstacle.</a:t>
            </a:r>
          </a:p>
        </p:txBody>
      </p:sp>
      <p:sp>
        <p:nvSpPr>
          <p:cNvPr id="4" name="TextBox 3" descr="Reading a state from a latent does not guarantee the planner can reach that state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Reading a state from a latent does not guarantee the planner can reach that state.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4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548640" y="2267712"/>
            <a:ext cx="3493008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1  Read the angle"/>
          <p:cNvSpPr txBox="1"/>
          <p:nvPr/>
        </p:nvSpPr>
        <p:spPr>
          <a:xfrm>
            <a:off x="713232" y="2414016"/>
            <a:ext cx="3163824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1  Read the angle</a:t>
            </a:r>
          </a:p>
        </p:txBody>
      </p:sp>
      <p:sp>
        <p:nvSpPr>
          <p:cNvPr id="10" name="TextBox 9" descr="Held-out circular error&#10;&#10;180° frames: 12.08°&#10;Near 0°: 14.58°"/>
          <p:cNvSpPr txBox="1"/>
          <p:nvPr/>
        </p:nvSpPr>
        <p:spPr>
          <a:xfrm>
            <a:off x="713232" y="3026664"/>
            <a:ext cx="3163824" cy="23042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Held-out circular error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180° frames: 12.08°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Near 0°: 14.58°</a:t>
            </a:r>
          </a:p>
        </p:txBody>
      </p:sp>
      <p:sp>
        <p:nvSpPr>
          <p:cNvPr id="11" name="Rounded Rectangle 10" descr=""/>
          <p:cNvSpPr/>
          <p:nvPr/>
        </p:nvSpPr>
        <p:spPr>
          <a:xfrm>
            <a:off x="4343400" y="2267712"/>
            <a:ext cx="3493008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 descr="2  Add a fixed Δz"/>
          <p:cNvSpPr txBox="1"/>
          <p:nvPr/>
        </p:nvSpPr>
        <p:spPr>
          <a:xfrm>
            <a:off x="4507992" y="2414016"/>
            <a:ext cx="3163824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B96643"/>
                </a:solidFill>
                <a:latin typeface="Arial"/>
              </a:defRPr>
            </a:pPr>
            <a:r>
              <a:t>2  Add a fixed Δz</a:t>
            </a:r>
          </a:p>
        </p:txBody>
      </p:sp>
      <p:sp>
        <p:nvSpPr>
          <p:cNvPr id="13" name="TextBox 12" descr="One constant latent step&#10;per command fails to fit.&#10;&#10;Residual ratio: 0.991"/>
          <p:cNvSpPr txBox="1"/>
          <p:nvPr/>
        </p:nvSpPr>
        <p:spPr>
          <a:xfrm>
            <a:off x="4507992" y="3026664"/>
            <a:ext cx="3163824" cy="23042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One constant latent step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per command fails to fit.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Residual ratio: 0.991</a:t>
            </a:r>
          </a:p>
        </p:txBody>
      </p:sp>
      <p:sp>
        <p:nvSpPr>
          <p:cNvPr id="14" name="Rounded Rectangle 13" descr=""/>
          <p:cNvSpPr/>
          <p:nvPr/>
        </p:nvSpPr>
        <p:spPr>
          <a:xfrm>
            <a:off x="8138160" y="2267712"/>
            <a:ext cx="3493008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 descr="3  Plan the turn"/>
          <p:cNvSpPr txBox="1"/>
          <p:nvPr/>
        </p:nvSpPr>
        <p:spPr>
          <a:xfrm>
            <a:off x="8302752" y="2414016"/>
            <a:ext cx="3163824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77629D"/>
                </a:solidFill>
                <a:latin typeface="Arial"/>
              </a:defRPr>
            </a:pPr>
            <a:r>
              <a:t>3  Plan the turn</a:t>
            </a:r>
          </a:p>
        </p:txBody>
      </p:sp>
      <p:sp>
        <p:nvSpPr>
          <p:cNvPr id="16" name="TextBox 15" descr="Angle-cost +90°: 2/20&#10;Strict in-place gate: 0/20&#10;&#10;Three rendered stages: 1/20"/>
          <p:cNvSpPr txBox="1"/>
          <p:nvPr/>
        </p:nvSpPr>
        <p:spPr>
          <a:xfrm>
            <a:off x="8302752" y="3026664"/>
            <a:ext cx="3163824" cy="23042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Angle-cost +90°: 2/20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Strict in-place gate: 0/20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Three rendered stages: 1/20</a:t>
            </a:r>
          </a:p>
        </p:txBody>
      </p:sp>
      <p:sp>
        <p:nvSpPr>
          <p:cNvPr id="17" name="Rounded Rectangle 16" descr=""/>
          <p:cNvSpPr/>
          <p:nvPr/>
        </p:nvSpPr>
        <p:spPr>
          <a:xfrm>
            <a:off x="557784" y="5669280"/>
            <a:ext cx="11064240" cy="484632"/>
          </a:xfrm>
          <a:prstGeom prst="roundRect">
            <a:avLst>
              <a:gd name="adj" fmla="val 13000"/>
            </a:avLst>
          </a:prstGeom>
          <a:solidFill>
            <a:srgbClr val="14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 descr="Decision: keep LeWM frozen and change the subgoal interface."/>
          <p:cNvSpPr txBox="1"/>
          <p:nvPr/>
        </p:nvSpPr>
        <p:spPr>
          <a:xfrm>
            <a:off x="749808" y="5751576"/>
            <a:ext cx="10698480" cy="2926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Decision: keep LeWM frozen and change the subgoal interface.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3 · THE IDEA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03 · THE IDEA</a:t>
            </a:r>
          </a:p>
        </p:txBody>
      </p:sp>
      <p:sp>
        <p:nvSpPr>
          <p:cNvPr id="3" name="TextBox 2" descr="Make a long task a sequence of nearby goals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Make a long task a sequence of nearby goals.</a:t>
            </a:r>
          </a:p>
        </p:txBody>
      </p:sp>
      <p:sp>
        <p:nvSpPr>
          <p:cNvPr id="4" name="TextBox 3" descr="Words choose a goal region. A graph of expert demonstrations supplies the intermediate frames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Words choose a goal region. A graph of expert demonstrations supplies the intermediate frames.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5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594360" y="2148840"/>
            <a:ext cx="2743200" cy="320040"/>
          </a:xfrm>
          <a:prstGeom prst="roundRect">
            <a:avLst>
              <a:gd name="adj" fmla="val 13000"/>
            </a:avLst>
          </a:prstGeom>
          <a:solidFill>
            <a:srgbClr val="D9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1  SENTENCE → GOAL REGION"/>
          <p:cNvSpPr txBox="1"/>
          <p:nvPr/>
        </p:nvSpPr>
        <p:spPr>
          <a:xfrm>
            <a:off x="704088" y="2176272"/>
            <a:ext cx="2523744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1  SENTENCE → GOAL REGION</a:t>
            </a:r>
          </a:p>
        </p:txBody>
      </p:sp>
      <p:sp>
        <p:nvSpPr>
          <p:cNvPr id="10" name="Rounded Rectangle 9" descr=""/>
          <p:cNvSpPr/>
          <p:nvPr/>
        </p:nvSpPr>
        <p:spPr>
          <a:xfrm>
            <a:off x="4370832" y="2148840"/>
            <a:ext cx="2743200" cy="320040"/>
          </a:xfrm>
          <a:prstGeom prst="roundRect">
            <a:avLst>
              <a:gd name="adj" fmla="val 13000"/>
            </a:avLst>
          </a:prstGeom>
          <a:solidFill>
            <a:srgbClr val="D9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 descr="2  FIND A ROUTE"/>
          <p:cNvSpPr txBox="1"/>
          <p:nvPr/>
        </p:nvSpPr>
        <p:spPr>
          <a:xfrm>
            <a:off x="4480560" y="2176272"/>
            <a:ext cx="2523744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2  FIND A ROUTE</a:t>
            </a:r>
          </a:p>
        </p:txBody>
      </p:sp>
      <p:sp>
        <p:nvSpPr>
          <p:cNvPr id="12" name="Rounded Rectangle 11" descr=""/>
          <p:cNvSpPr/>
          <p:nvPr/>
        </p:nvSpPr>
        <p:spPr>
          <a:xfrm>
            <a:off x="8229600" y="2148840"/>
            <a:ext cx="2743200" cy="320040"/>
          </a:xfrm>
          <a:prstGeom prst="roundRect">
            <a:avLst>
              <a:gd name="adj" fmla="val 13000"/>
            </a:avLst>
          </a:prstGeom>
          <a:solidFill>
            <a:srgbClr val="D9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 descr="3  PLAN · ACT · REPEAT"/>
          <p:cNvSpPr txBox="1"/>
          <p:nvPr/>
        </p:nvSpPr>
        <p:spPr>
          <a:xfrm>
            <a:off x="8339327" y="2176272"/>
            <a:ext cx="2523744" cy="2286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3  PLAN · ACT · REPEAT</a:t>
            </a:r>
          </a:p>
        </p:txBody>
      </p:sp>
      <p:sp>
        <p:nvSpPr>
          <p:cNvPr id="14" name="Rounded Rectangle 13" descr=""/>
          <p:cNvSpPr/>
          <p:nvPr/>
        </p:nvSpPr>
        <p:spPr>
          <a:xfrm>
            <a:off x="576072" y="2724912"/>
            <a:ext cx="3236976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 descr="“Turn the T clockwise.”"/>
          <p:cNvSpPr txBox="1"/>
          <p:nvPr/>
        </p:nvSpPr>
        <p:spPr>
          <a:xfrm>
            <a:off x="786384" y="2926080"/>
            <a:ext cx="2834640" cy="58521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42A3B"/>
                </a:solidFill>
                <a:latin typeface="Arial"/>
              </a:defRPr>
            </a:pPr>
            <a:r>
              <a:t>“Turn the T clockwise.”</a:t>
            </a:r>
          </a:p>
        </p:txBody>
      </p:sp>
      <p:sp>
        <p:nvSpPr>
          <p:cNvPr id="16" name="TextBox 15" descr="Qwen parser&#10;→ turn +90°"/>
          <p:cNvSpPr txBox="1"/>
          <p:nvPr/>
        </p:nvSpPr>
        <p:spPr>
          <a:xfrm>
            <a:off x="786384" y="3721608"/>
            <a:ext cx="27432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Qwen parser</a:t>
            </a:r>
          </a:p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→ turn +90°</a:t>
            </a:r>
          </a:p>
        </p:txBody>
      </p:sp>
      <p:sp>
        <p:nvSpPr>
          <p:cNvPr id="17" name="TextBox 16" descr="Region: angle + drift tolerance"/>
          <p:cNvSpPr txBox="1"/>
          <p:nvPr/>
        </p:nvSpPr>
        <p:spPr>
          <a:xfrm>
            <a:off x="786384" y="4663440"/>
            <a:ext cx="274320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Region: angle + drift tolerance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53128" y="344728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 descr=""/>
          <p:cNvSpPr/>
          <p:nvPr/>
        </p:nvSpPr>
        <p:spPr>
          <a:xfrm>
            <a:off x="4343400" y="333756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65776" y="344728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 descr=""/>
          <p:cNvSpPr/>
          <p:nvPr/>
        </p:nvSpPr>
        <p:spPr>
          <a:xfrm>
            <a:off x="4956048" y="333756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678424" y="344728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 descr=""/>
          <p:cNvSpPr/>
          <p:nvPr/>
        </p:nvSpPr>
        <p:spPr>
          <a:xfrm>
            <a:off x="5568696" y="333756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91072" y="344728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 descr=""/>
          <p:cNvSpPr/>
          <p:nvPr/>
        </p:nvSpPr>
        <p:spPr>
          <a:xfrm>
            <a:off x="6181344" y="333756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 descr=""/>
          <p:cNvSpPr/>
          <p:nvPr/>
        </p:nvSpPr>
        <p:spPr>
          <a:xfrm>
            <a:off x="6793992" y="333756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453128" y="440740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 descr=""/>
          <p:cNvSpPr/>
          <p:nvPr/>
        </p:nvSpPr>
        <p:spPr>
          <a:xfrm>
            <a:off x="4343400" y="429768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065776" y="440740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 descr=""/>
          <p:cNvSpPr/>
          <p:nvPr/>
        </p:nvSpPr>
        <p:spPr>
          <a:xfrm>
            <a:off x="4956048" y="429768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678424" y="440740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 descr=""/>
          <p:cNvSpPr/>
          <p:nvPr/>
        </p:nvSpPr>
        <p:spPr>
          <a:xfrm>
            <a:off x="5568696" y="429768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291072" y="4407408"/>
            <a:ext cx="612648" cy="0"/>
          </a:xfrm>
          <a:prstGeom prst="line">
            <a:avLst/>
          </a:prstGeom>
          <a:ln w="25400">
            <a:solidFill>
              <a:srgbClr val="AF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 descr=""/>
          <p:cNvSpPr/>
          <p:nvPr/>
        </p:nvSpPr>
        <p:spPr>
          <a:xfrm>
            <a:off x="6181344" y="429768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 descr=""/>
          <p:cNvSpPr/>
          <p:nvPr/>
        </p:nvSpPr>
        <p:spPr>
          <a:xfrm>
            <a:off x="6793992" y="4297680"/>
            <a:ext cx="219456" cy="219456"/>
          </a:xfrm>
          <a:prstGeom prst="ellipse">
            <a:avLst/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065776" y="3447288"/>
            <a:ext cx="612648" cy="960120"/>
          </a:xfrm>
          <a:prstGeom prst="line">
            <a:avLst/>
          </a:prstGeom>
          <a:ln w="50800">
            <a:solidFill>
              <a:srgbClr val="067F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53128" y="3447288"/>
            <a:ext cx="612648" cy="0"/>
          </a:xfrm>
          <a:prstGeom prst="line">
            <a:avLst/>
          </a:prstGeom>
          <a:ln w="50800">
            <a:solidFill>
              <a:srgbClr val="067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678424" y="4407408"/>
            <a:ext cx="1225296" cy="0"/>
          </a:xfrm>
          <a:prstGeom prst="line">
            <a:avLst/>
          </a:prstGeom>
          <a:ln w="50800">
            <a:solidFill>
              <a:srgbClr val="067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 descr=""/>
          <p:cNvSpPr/>
          <p:nvPr/>
        </p:nvSpPr>
        <p:spPr>
          <a:xfrm>
            <a:off x="4343400" y="3337560"/>
            <a:ext cx="219456" cy="219456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 descr=""/>
          <p:cNvSpPr/>
          <p:nvPr/>
        </p:nvSpPr>
        <p:spPr>
          <a:xfrm>
            <a:off x="4956048" y="3337560"/>
            <a:ext cx="219456" cy="219456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 descr=""/>
          <p:cNvSpPr/>
          <p:nvPr/>
        </p:nvSpPr>
        <p:spPr>
          <a:xfrm>
            <a:off x="5568696" y="4297680"/>
            <a:ext cx="219456" cy="219456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 descr=""/>
          <p:cNvSpPr/>
          <p:nvPr/>
        </p:nvSpPr>
        <p:spPr>
          <a:xfrm>
            <a:off x="6181344" y="4297680"/>
            <a:ext cx="219456" cy="219456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 descr=""/>
          <p:cNvSpPr/>
          <p:nvPr/>
        </p:nvSpPr>
        <p:spPr>
          <a:xfrm>
            <a:off x="6793992" y="4297680"/>
            <a:ext cx="219456" cy="219456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 descr="Demo A"/>
          <p:cNvSpPr txBox="1"/>
          <p:nvPr/>
        </p:nvSpPr>
        <p:spPr>
          <a:xfrm>
            <a:off x="4297680" y="2779776"/>
            <a:ext cx="3108960" cy="3383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Demo A</a:t>
            </a:r>
          </a:p>
        </p:txBody>
      </p:sp>
      <p:sp>
        <p:nvSpPr>
          <p:cNvPr id="45" name="TextBox 44" descr="Switch demos near matching states.&#10;Graph drawing is schematic."/>
          <p:cNvSpPr txBox="1"/>
          <p:nvPr/>
        </p:nvSpPr>
        <p:spPr>
          <a:xfrm>
            <a:off x="4297680" y="4754880"/>
            <a:ext cx="310896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1717B"/>
                </a:solidFill>
                <a:latin typeface="Arial"/>
              </a:defRPr>
            </a:pPr>
            <a:r>
              <a:t>Switch demos near matching states.</a:t>
            </a:r>
          </a:p>
          <a:p>
            <a:pPr>
              <a:spcAft>
                <a:spcPts val="600"/>
              </a:spcAft>
              <a:defRPr sz="1300" b="0">
                <a:solidFill>
                  <a:srgbClr val="61717B"/>
                </a:solidFill>
                <a:latin typeface="Arial"/>
              </a:defRPr>
            </a:pPr>
            <a:r>
              <a:t>Graph drawing is schematic.</a:t>
            </a:r>
          </a:p>
        </p:txBody>
      </p:sp>
      <p:sp>
        <p:nvSpPr>
          <p:cNvPr id="46" name="Rounded Rectangle 45" descr=""/>
          <p:cNvSpPr/>
          <p:nvPr/>
        </p:nvSpPr>
        <p:spPr>
          <a:xfrm>
            <a:off x="8083296" y="2743200"/>
            <a:ext cx="3538728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 descr="Next demo frame"/>
          <p:cNvSpPr txBox="1"/>
          <p:nvPr/>
        </p:nvSpPr>
        <p:spPr>
          <a:xfrm>
            <a:off x="8247888" y="2889504"/>
            <a:ext cx="3209544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Next demo frame</a:t>
            </a:r>
          </a:p>
        </p:txBody>
      </p:sp>
      <p:sp>
        <p:nvSpPr>
          <p:cNvPr id="48" name="TextBox 47" descr="Encode frame → frozen CEM&#10;Execute ≈25 steps&#10;Read live state again"/>
          <p:cNvSpPr txBox="1"/>
          <p:nvPr/>
        </p:nvSpPr>
        <p:spPr>
          <a:xfrm>
            <a:off x="8247888" y="3502152"/>
            <a:ext cx="3209544" cy="165506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Encode frame → frozen CEM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Execute ≈25 steps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Read live state again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86200" y="3749039"/>
            <a:ext cx="338328" cy="0"/>
          </a:xfrm>
          <a:prstGeom prst="line">
            <a:avLst/>
          </a:prstGeom>
          <a:ln w="31750">
            <a:solidFill>
              <a:srgbClr val="067F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269480" y="3749039"/>
            <a:ext cx="685799" cy="0"/>
          </a:xfrm>
          <a:prstGeom prst="line">
            <a:avLst/>
          </a:prstGeom>
          <a:ln w="31750">
            <a:solidFill>
              <a:srgbClr val="067F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 descr="427,396 nodes · one node every 5 demo steps · train split only&#10;Retrieval uses simulator state; LeWM is not trained with language."/>
          <p:cNvSpPr txBox="1"/>
          <p:nvPr/>
        </p:nvSpPr>
        <p:spPr>
          <a:xfrm>
            <a:off x="603504" y="5577840"/>
            <a:ext cx="10972800" cy="5943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427,396 nodes · one node every 5 demo steps · train split only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Retrieval uses simulator state; LeWM is not trained with language.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4 · DEMO BREADCRUMBS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04 · DEMO BREADCRUMBS</a:t>
            </a:r>
          </a:p>
        </p:txBody>
      </p:sp>
      <p:sp>
        <p:nvSpPr>
          <p:cNvPr id="3" name="TextBox 2" descr="The biggest gain appears on the farther demo goals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The biggest gain appears on the farther demo goals.</a:t>
            </a:r>
          </a:p>
        </p:txBody>
      </p:sp>
      <p:sp>
        <p:nvSpPr>
          <p:cNvPr id="4" name="TextBox 3" descr="Same planner and budget within each row. Only the intermediate subgoals change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Same planner and budget within each row. Only the intermediate subgoals change.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6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TextBox 7" descr="+38 pp"/>
          <p:cNvSpPr txBox="1"/>
          <p:nvPr/>
        </p:nvSpPr>
        <p:spPr>
          <a:xfrm>
            <a:off x="9601200" y="2029968"/>
            <a:ext cx="1920240" cy="5943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3300" b="1">
                <a:solidFill>
                  <a:srgbClr val="067F7C"/>
                </a:solidFill>
                <a:latin typeface="Arial"/>
              </a:defRPr>
            </a:pPr>
            <a:r>
              <a:t>+38 pp</a:t>
            </a:r>
          </a:p>
        </p:txBody>
      </p:sp>
      <p:sp>
        <p:nvSpPr>
          <p:cNvPr id="9" name="TextBox 8" descr="at offset 100"/>
          <p:cNvSpPr txBox="1"/>
          <p:nvPr/>
        </p:nvSpPr>
        <p:spPr>
          <a:xfrm>
            <a:off x="9235440" y="2642616"/>
            <a:ext cx="2286000" cy="47548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at offset 100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2267712"/>
          <a:ext cx="864108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 descr="PAIRED +100 TASKS"/>
          <p:cNvSpPr txBox="1"/>
          <p:nvPr/>
        </p:nvSpPr>
        <p:spPr>
          <a:xfrm>
            <a:off x="9537192" y="3273552"/>
            <a:ext cx="1874519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PAIRED +100 TASKS</a:t>
            </a:r>
          </a:p>
        </p:txBody>
      </p:sp>
      <p:sp>
        <p:nvSpPr>
          <p:cNvPr id="12" name="TextBox 11" descr="23 gained"/>
          <p:cNvSpPr txBox="1"/>
          <p:nvPr/>
        </p:nvSpPr>
        <p:spPr>
          <a:xfrm>
            <a:off x="9537192" y="3803904"/>
            <a:ext cx="2011680" cy="5029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67F7C"/>
                </a:solidFill>
                <a:latin typeface="Arial"/>
              </a:defRPr>
            </a:pPr>
            <a:r>
              <a:t>23 gained</a:t>
            </a:r>
          </a:p>
        </p:txBody>
      </p:sp>
      <p:sp>
        <p:nvSpPr>
          <p:cNvPr id="13" name="TextBox 12" descr="4 lost"/>
          <p:cNvSpPr txBox="1"/>
          <p:nvPr/>
        </p:nvSpPr>
        <p:spPr>
          <a:xfrm>
            <a:off x="9537192" y="4489704"/>
            <a:ext cx="2011680" cy="5029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B96643"/>
                </a:solidFill>
                <a:latin typeface="Arial"/>
              </a:defRPr>
            </a:pPr>
            <a:r>
              <a:t>4 lost</a:t>
            </a:r>
          </a:p>
        </p:txBody>
      </p:sp>
      <p:sp>
        <p:nvSpPr>
          <p:cNvPr id="14" name="TextBox 13" descr="19 net / 50"/>
          <p:cNvSpPr txBox="1"/>
          <p:nvPr/>
        </p:nvSpPr>
        <p:spPr>
          <a:xfrm>
            <a:off x="9537192" y="5175504"/>
            <a:ext cx="2011680" cy="5029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42A3B"/>
                </a:solidFill>
                <a:latin typeface="Arial"/>
              </a:defRPr>
            </a:pPr>
            <a:r>
              <a:t>19 net / 50</a:t>
            </a:r>
          </a:p>
        </p:txBody>
      </p:sp>
      <p:sp>
        <p:nvSpPr>
          <p:cNvPr id="15" name="TextBox 14" descr="Budget 300. Rows have different frozen success criteria; compare methods within each row."/>
          <p:cNvSpPr txBox="1"/>
          <p:nvPr/>
        </p:nvSpPr>
        <p:spPr>
          <a:xfrm>
            <a:off x="621792" y="5870448"/>
            <a:ext cx="10972800" cy="35661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1717B"/>
                </a:solidFill>
                <a:latin typeface="Arial"/>
              </a:defRPr>
            </a:pPr>
            <a:r>
              <a:t>Budget 300. Rows have different frozen success criteria; compare methods within each row.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5 · WORDS AS THE GOAL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05 · WORDS AS THE GOAL</a:t>
            </a:r>
          </a:p>
        </p:txBody>
      </p:sp>
      <p:sp>
        <p:nvSpPr>
          <p:cNvPr id="3" name="TextBox 2" descr="The language interface works; execution is the larger gap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The language interface works; execution is the larger gap.</a:t>
            </a:r>
          </a:p>
        </p:txBody>
      </p:sp>
      <p:sp>
        <p:nvSpPr>
          <p:cNvPr id="4" name="TextBox 3" descr="Qwen2.5-1.5B-Instruct · local, greedy · 120 held-out sentences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Qwen2.5-1.5B-Instruct · local, greedy · 120 held-out sentences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7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566928" y="2267712"/>
            <a:ext cx="4709160" cy="34107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101/120"/>
          <p:cNvSpPr txBox="1"/>
          <p:nvPr/>
        </p:nvSpPr>
        <p:spPr>
          <a:xfrm>
            <a:off x="777240" y="2468880"/>
            <a:ext cx="4297680" cy="4572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067F7C"/>
                </a:solidFill>
                <a:latin typeface="Arial"/>
              </a:defRPr>
            </a:pPr>
            <a:r>
              <a:t>101/120</a:t>
            </a:r>
          </a:p>
        </p:txBody>
      </p:sp>
      <p:sp>
        <p:nvSpPr>
          <p:cNvPr id="10" name="TextBox 9" descr="sentences parsed correctly · 84.2%"/>
          <p:cNvSpPr txBox="1"/>
          <p:nvPr/>
        </p:nvSpPr>
        <p:spPr>
          <a:xfrm>
            <a:off x="777240" y="3063240"/>
            <a:ext cx="429768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42A3B"/>
                </a:solidFill>
                <a:latin typeface="Arial"/>
              </a:defRPr>
            </a:pPr>
            <a:r>
              <a:t>sentences parsed correctly · 84.2%</a:t>
            </a:r>
          </a:p>
        </p:txBody>
      </p:sp>
      <p:sp>
        <p:nvSpPr>
          <p:cNvPr id="11" name="Rounded Rectangle 10" descr=""/>
          <p:cNvSpPr/>
          <p:nvPr/>
        </p:nvSpPr>
        <p:spPr>
          <a:xfrm>
            <a:off x="795528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 descr=""/>
          <p:cNvSpPr/>
          <p:nvPr/>
        </p:nvSpPr>
        <p:spPr>
          <a:xfrm>
            <a:off x="1004925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 descr=""/>
          <p:cNvSpPr/>
          <p:nvPr/>
        </p:nvSpPr>
        <p:spPr>
          <a:xfrm>
            <a:off x="1214323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 descr=""/>
          <p:cNvSpPr/>
          <p:nvPr/>
        </p:nvSpPr>
        <p:spPr>
          <a:xfrm>
            <a:off x="1423720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 descr=""/>
          <p:cNvSpPr/>
          <p:nvPr/>
        </p:nvSpPr>
        <p:spPr>
          <a:xfrm>
            <a:off x="1633118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 descr=""/>
          <p:cNvSpPr/>
          <p:nvPr/>
        </p:nvSpPr>
        <p:spPr>
          <a:xfrm>
            <a:off x="1842516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 descr=""/>
          <p:cNvSpPr/>
          <p:nvPr/>
        </p:nvSpPr>
        <p:spPr>
          <a:xfrm>
            <a:off x="2051913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 descr=""/>
          <p:cNvSpPr/>
          <p:nvPr/>
        </p:nvSpPr>
        <p:spPr>
          <a:xfrm>
            <a:off x="2261311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 descr=""/>
          <p:cNvSpPr/>
          <p:nvPr/>
        </p:nvSpPr>
        <p:spPr>
          <a:xfrm>
            <a:off x="2470708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 descr=""/>
          <p:cNvSpPr/>
          <p:nvPr/>
        </p:nvSpPr>
        <p:spPr>
          <a:xfrm>
            <a:off x="2680106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 descr=""/>
          <p:cNvSpPr/>
          <p:nvPr/>
        </p:nvSpPr>
        <p:spPr>
          <a:xfrm>
            <a:off x="2889504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 descr=""/>
          <p:cNvSpPr/>
          <p:nvPr/>
        </p:nvSpPr>
        <p:spPr>
          <a:xfrm>
            <a:off x="3098901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 descr=""/>
          <p:cNvSpPr/>
          <p:nvPr/>
        </p:nvSpPr>
        <p:spPr>
          <a:xfrm>
            <a:off x="3308299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 descr=""/>
          <p:cNvSpPr/>
          <p:nvPr/>
        </p:nvSpPr>
        <p:spPr>
          <a:xfrm>
            <a:off x="3517696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 descr=""/>
          <p:cNvSpPr/>
          <p:nvPr/>
        </p:nvSpPr>
        <p:spPr>
          <a:xfrm>
            <a:off x="3727094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 descr=""/>
          <p:cNvSpPr/>
          <p:nvPr/>
        </p:nvSpPr>
        <p:spPr>
          <a:xfrm>
            <a:off x="3936491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 descr=""/>
          <p:cNvSpPr/>
          <p:nvPr/>
        </p:nvSpPr>
        <p:spPr>
          <a:xfrm>
            <a:off x="4145889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 descr=""/>
          <p:cNvSpPr/>
          <p:nvPr/>
        </p:nvSpPr>
        <p:spPr>
          <a:xfrm>
            <a:off x="4355287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 descr=""/>
          <p:cNvSpPr/>
          <p:nvPr/>
        </p:nvSpPr>
        <p:spPr>
          <a:xfrm>
            <a:off x="4564684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 descr=""/>
          <p:cNvSpPr/>
          <p:nvPr/>
        </p:nvSpPr>
        <p:spPr>
          <a:xfrm>
            <a:off x="4774082" y="372160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 descr=""/>
          <p:cNvSpPr/>
          <p:nvPr/>
        </p:nvSpPr>
        <p:spPr>
          <a:xfrm>
            <a:off x="795528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 descr=""/>
          <p:cNvSpPr/>
          <p:nvPr/>
        </p:nvSpPr>
        <p:spPr>
          <a:xfrm>
            <a:off x="1004925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 descr=""/>
          <p:cNvSpPr/>
          <p:nvPr/>
        </p:nvSpPr>
        <p:spPr>
          <a:xfrm>
            <a:off x="1214323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 descr=""/>
          <p:cNvSpPr/>
          <p:nvPr/>
        </p:nvSpPr>
        <p:spPr>
          <a:xfrm>
            <a:off x="1423720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 descr=""/>
          <p:cNvSpPr/>
          <p:nvPr/>
        </p:nvSpPr>
        <p:spPr>
          <a:xfrm>
            <a:off x="1633118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 descr=""/>
          <p:cNvSpPr/>
          <p:nvPr/>
        </p:nvSpPr>
        <p:spPr>
          <a:xfrm>
            <a:off x="1842516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 descr=""/>
          <p:cNvSpPr/>
          <p:nvPr/>
        </p:nvSpPr>
        <p:spPr>
          <a:xfrm>
            <a:off x="2051913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 descr=""/>
          <p:cNvSpPr/>
          <p:nvPr/>
        </p:nvSpPr>
        <p:spPr>
          <a:xfrm>
            <a:off x="2261311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 descr=""/>
          <p:cNvSpPr/>
          <p:nvPr/>
        </p:nvSpPr>
        <p:spPr>
          <a:xfrm>
            <a:off x="2470708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 descr=""/>
          <p:cNvSpPr/>
          <p:nvPr/>
        </p:nvSpPr>
        <p:spPr>
          <a:xfrm>
            <a:off x="2680106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 descr=""/>
          <p:cNvSpPr/>
          <p:nvPr/>
        </p:nvSpPr>
        <p:spPr>
          <a:xfrm>
            <a:off x="2889504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 descr=""/>
          <p:cNvSpPr/>
          <p:nvPr/>
        </p:nvSpPr>
        <p:spPr>
          <a:xfrm>
            <a:off x="3098901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 descr=""/>
          <p:cNvSpPr/>
          <p:nvPr/>
        </p:nvSpPr>
        <p:spPr>
          <a:xfrm>
            <a:off x="3308299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 descr=""/>
          <p:cNvSpPr/>
          <p:nvPr/>
        </p:nvSpPr>
        <p:spPr>
          <a:xfrm>
            <a:off x="3517696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 descr=""/>
          <p:cNvSpPr/>
          <p:nvPr/>
        </p:nvSpPr>
        <p:spPr>
          <a:xfrm>
            <a:off x="3727094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 descr=""/>
          <p:cNvSpPr/>
          <p:nvPr/>
        </p:nvSpPr>
        <p:spPr>
          <a:xfrm>
            <a:off x="3936491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 descr=""/>
          <p:cNvSpPr/>
          <p:nvPr/>
        </p:nvSpPr>
        <p:spPr>
          <a:xfrm>
            <a:off x="4145889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 descr=""/>
          <p:cNvSpPr/>
          <p:nvPr/>
        </p:nvSpPr>
        <p:spPr>
          <a:xfrm>
            <a:off x="4355287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 descr=""/>
          <p:cNvSpPr/>
          <p:nvPr/>
        </p:nvSpPr>
        <p:spPr>
          <a:xfrm>
            <a:off x="4564684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 descr=""/>
          <p:cNvSpPr/>
          <p:nvPr/>
        </p:nvSpPr>
        <p:spPr>
          <a:xfrm>
            <a:off x="4774082" y="3895344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 descr=""/>
          <p:cNvSpPr/>
          <p:nvPr/>
        </p:nvSpPr>
        <p:spPr>
          <a:xfrm>
            <a:off x="795528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 descr=""/>
          <p:cNvSpPr/>
          <p:nvPr/>
        </p:nvSpPr>
        <p:spPr>
          <a:xfrm>
            <a:off x="1004925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 descr=""/>
          <p:cNvSpPr/>
          <p:nvPr/>
        </p:nvSpPr>
        <p:spPr>
          <a:xfrm>
            <a:off x="1214323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 descr=""/>
          <p:cNvSpPr/>
          <p:nvPr/>
        </p:nvSpPr>
        <p:spPr>
          <a:xfrm>
            <a:off x="1423720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 descr=""/>
          <p:cNvSpPr/>
          <p:nvPr/>
        </p:nvSpPr>
        <p:spPr>
          <a:xfrm>
            <a:off x="1633118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 descr=""/>
          <p:cNvSpPr/>
          <p:nvPr/>
        </p:nvSpPr>
        <p:spPr>
          <a:xfrm>
            <a:off x="1842516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 descr=""/>
          <p:cNvSpPr/>
          <p:nvPr/>
        </p:nvSpPr>
        <p:spPr>
          <a:xfrm>
            <a:off x="2051913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 descr=""/>
          <p:cNvSpPr/>
          <p:nvPr/>
        </p:nvSpPr>
        <p:spPr>
          <a:xfrm>
            <a:off x="2261311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 descr=""/>
          <p:cNvSpPr/>
          <p:nvPr/>
        </p:nvSpPr>
        <p:spPr>
          <a:xfrm>
            <a:off x="2470708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 descr=""/>
          <p:cNvSpPr/>
          <p:nvPr/>
        </p:nvSpPr>
        <p:spPr>
          <a:xfrm>
            <a:off x="2680106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 descr=""/>
          <p:cNvSpPr/>
          <p:nvPr/>
        </p:nvSpPr>
        <p:spPr>
          <a:xfrm>
            <a:off x="2889504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 descr=""/>
          <p:cNvSpPr/>
          <p:nvPr/>
        </p:nvSpPr>
        <p:spPr>
          <a:xfrm>
            <a:off x="3098901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 descr=""/>
          <p:cNvSpPr/>
          <p:nvPr/>
        </p:nvSpPr>
        <p:spPr>
          <a:xfrm>
            <a:off x="3308299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 descr=""/>
          <p:cNvSpPr/>
          <p:nvPr/>
        </p:nvSpPr>
        <p:spPr>
          <a:xfrm>
            <a:off x="3517696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 descr=""/>
          <p:cNvSpPr/>
          <p:nvPr/>
        </p:nvSpPr>
        <p:spPr>
          <a:xfrm>
            <a:off x="3727094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 descr=""/>
          <p:cNvSpPr/>
          <p:nvPr/>
        </p:nvSpPr>
        <p:spPr>
          <a:xfrm>
            <a:off x="3936491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 descr=""/>
          <p:cNvSpPr/>
          <p:nvPr/>
        </p:nvSpPr>
        <p:spPr>
          <a:xfrm>
            <a:off x="4145889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 descr=""/>
          <p:cNvSpPr/>
          <p:nvPr/>
        </p:nvSpPr>
        <p:spPr>
          <a:xfrm>
            <a:off x="4355287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 descr=""/>
          <p:cNvSpPr/>
          <p:nvPr/>
        </p:nvSpPr>
        <p:spPr>
          <a:xfrm>
            <a:off x="4564684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 descr=""/>
          <p:cNvSpPr/>
          <p:nvPr/>
        </p:nvSpPr>
        <p:spPr>
          <a:xfrm>
            <a:off x="4774082" y="4069080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 descr=""/>
          <p:cNvSpPr/>
          <p:nvPr/>
        </p:nvSpPr>
        <p:spPr>
          <a:xfrm>
            <a:off x="795528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 descr=""/>
          <p:cNvSpPr/>
          <p:nvPr/>
        </p:nvSpPr>
        <p:spPr>
          <a:xfrm>
            <a:off x="1004925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 descr=""/>
          <p:cNvSpPr/>
          <p:nvPr/>
        </p:nvSpPr>
        <p:spPr>
          <a:xfrm>
            <a:off x="1214323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 descr=""/>
          <p:cNvSpPr/>
          <p:nvPr/>
        </p:nvSpPr>
        <p:spPr>
          <a:xfrm>
            <a:off x="1423720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 descr=""/>
          <p:cNvSpPr/>
          <p:nvPr/>
        </p:nvSpPr>
        <p:spPr>
          <a:xfrm>
            <a:off x="1633118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 descr=""/>
          <p:cNvSpPr/>
          <p:nvPr/>
        </p:nvSpPr>
        <p:spPr>
          <a:xfrm>
            <a:off x="1842516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 descr=""/>
          <p:cNvSpPr/>
          <p:nvPr/>
        </p:nvSpPr>
        <p:spPr>
          <a:xfrm>
            <a:off x="2051913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 descr=""/>
          <p:cNvSpPr/>
          <p:nvPr/>
        </p:nvSpPr>
        <p:spPr>
          <a:xfrm>
            <a:off x="2261311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 descr=""/>
          <p:cNvSpPr/>
          <p:nvPr/>
        </p:nvSpPr>
        <p:spPr>
          <a:xfrm>
            <a:off x="2470708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 descr=""/>
          <p:cNvSpPr/>
          <p:nvPr/>
        </p:nvSpPr>
        <p:spPr>
          <a:xfrm>
            <a:off x="2680106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 descr=""/>
          <p:cNvSpPr/>
          <p:nvPr/>
        </p:nvSpPr>
        <p:spPr>
          <a:xfrm>
            <a:off x="2889504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 descr=""/>
          <p:cNvSpPr/>
          <p:nvPr/>
        </p:nvSpPr>
        <p:spPr>
          <a:xfrm>
            <a:off x="3098901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 descr=""/>
          <p:cNvSpPr/>
          <p:nvPr/>
        </p:nvSpPr>
        <p:spPr>
          <a:xfrm>
            <a:off x="3308299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 descr=""/>
          <p:cNvSpPr/>
          <p:nvPr/>
        </p:nvSpPr>
        <p:spPr>
          <a:xfrm>
            <a:off x="3517696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 descr=""/>
          <p:cNvSpPr/>
          <p:nvPr/>
        </p:nvSpPr>
        <p:spPr>
          <a:xfrm>
            <a:off x="3727094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 descr=""/>
          <p:cNvSpPr/>
          <p:nvPr/>
        </p:nvSpPr>
        <p:spPr>
          <a:xfrm>
            <a:off x="3936491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 descr=""/>
          <p:cNvSpPr/>
          <p:nvPr/>
        </p:nvSpPr>
        <p:spPr>
          <a:xfrm>
            <a:off x="4145889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 descr=""/>
          <p:cNvSpPr/>
          <p:nvPr/>
        </p:nvSpPr>
        <p:spPr>
          <a:xfrm>
            <a:off x="4355287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 descr=""/>
          <p:cNvSpPr/>
          <p:nvPr/>
        </p:nvSpPr>
        <p:spPr>
          <a:xfrm>
            <a:off x="4564684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 descr=""/>
          <p:cNvSpPr/>
          <p:nvPr/>
        </p:nvSpPr>
        <p:spPr>
          <a:xfrm>
            <a:off x="4774082" y="4242816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 descr=""/>
          <p:cNvSpPr/>
          <p:nvPr/>
        </p:nvSpPr>
        <p:spPr>
          <a:xfrm>
            <a:off x="795528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 descr=""/>
          <p:cNvSpPr/>
          <p:nvPr/>
        </p:nvSpPr>
        <p:spPr>
          <a:xfrm>
            <a:off x="1004925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 descr=""/>
          <p:cNvSpPr/>
          <p:nvPr/>
        </p:nvSpPr>
        <p:spPr>
          <a:xfrm>
            <a:off x="1214323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 descr=""/>
          <p:cNvSpPr/>
          <p:nvPr/>
        </p:nvSpPr>
        <p:spPr>
          <a:xfrm>
            <a:off x="1423720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 descr=""/>
          <p:cNvSpPr/>
          <p:nvPr/>
        </p:nvSpPr>
        <p:spPr>
          <a:xfrm>
            <a:off x="1633118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 descr=""/>
          <p:cNvSpPr/>
          <p:nvPr/>
        </p:nvSpPr>
        <p:spPr>
          <a:xfrm>
            <a:off x="1842516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 descr=""/>
          <p:cNvSpPr/>
          <p:nvPr/>
        </p:nvSpPr>
        <p:spPr>
          <a:xfrm>
            <a:off x="2051913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 descr=""/>
          <p:cNvSpPr/>
          <p:nvPr/>
        </p:nvSpPr>
        <p:spPr>
          <a:xfrm>
            <a:off x="2261311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 descr=""/>
          <p:cNvSpPr/>
          <p:nvPr/>
        </p:nvSpPr>
        <p:spPr>
          <a:xfrm>
            <a:off x="2470708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 descr=""/>
          <p:cNvSpPr/>
          <p:nvPr/>
        </p:nvSpPr>
        <p:spPr>
          <a:xfrm>
            <a:off x="2680106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 descr=""/>
          <p:cNvSpPr/>
          <p:nvPr/>
        </p:nvSpPr>
        <p:spPr>
          <a:xfrm>
            <a:off x="2889504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 descr=""/>
          <p:cNvSpPr/>
          <p:nvPr/>
        </p:nvSpPr>
        <p:spPr>
          <a:xfrm>
            <a:off x="3098901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 descr=""/>
          <p:cNvSpPr/>
          <p:nvPr/>
        </p:nvSpPr>
        <p:spPr>
          <a:xfrm>
            <a:off x="3308299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 descr=""/>
          <p:cNvSpPr/>
          <p:nvPr/>
        </p:nvSpPr>
        <p:spPr>
          <a:xfrm>
            <a:off x="3517696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 descr=""/>
          <p:cNvSpPr/>
          <p:nvPr/>
        </p:nvSpPr>
        <p:spPr>
          <a:xfrm>
            <a:off x="3727094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 descr=""/>
          <p:cNvSpPr/>
          <p:nvPr/>
        </p:nvSpPr>
        <p:spPr>
          <a:xfrm>
            <a:off x="3936491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 descr=""/>
          <p:cNvSpPr/>
          <p:nvPr/>
        </p:nvSpPr>
        <p:spPr>
          <a:xfrm>
            <a:off x="4145889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 descr=""/>
          <p:cNvSpPr/>
          <p:nvPr/>
        </p:nvSpPr>
        <p:spPr>
          <a:xfrm>
            <a:off x="4355287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 descr=""/>
          <p:cNvSpPr/>
          <p:nvPr/>
        </p:nvSpPr>
        <p:spPr>
          <a:xfrm>
            <a:off x="4564684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 descr=""/>
          <p:cNvSpPr/>
          <p:nvPr/>
        </p:nvSpPr>
        <p:spPr>
          <a:xfrm>
            <a:off x="4774082" y="4416552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 descr=""/>
          <p:cNvSpPr/>
          <p:nvPr/>
        </p:nvSpPr>
        <p:spPr>
          <a:xfrm>
            <a:off x="795528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 descr=""/>
          <p:cNvSpPr/>
          <p:nvPr/>
        </p:nvSpPr>
        <p:spPr>
          <a:xfrm>
            <a:off x="1004925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 descr=""/>
          <p:cNvSpPr/>
          <p:nvPr/>
        </p:nvSpPr>
        <p:spPr>
          <a:xfrm>
            <a:off x="1214323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 descr=""/>
          <p:cNvSpPr/>
          <p:nvPr/>
        </p:nvSpPr>
        <p:spPr>
          <a:xfrm>
            <a:off x="1423720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 descr=""/>
          <p:cNvSpPr/>
          <p:nvPr/>
        </p:nvSpPr>
        <p:spPr>
          <a:xfrm>
            <a:off x="1633118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 descr=""/>
          <p:cNvSpPr/>
          <p:nvPr/>
        </p:nvSpPr>
        <p:spPr>
          <a:xfrm>
            <a:off x="1842516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 descr=""/>
          <p:cNvSpPr/>
          <p:nvPr/>
        </p:nvSpPr>
        <p:spPr>
          <a:xfrm>
            <a:off x="2051913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 descr=""/>
          <p:cNvSpPr/>
          <p:nvPr/>
        </p:nvSpPr>
        <p:spPr>
          <a:xfrm>
            <a:off x="2261311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 descr=""/>
          <p:cNvSpPr/>
          <p:nvPr/>
        </p:nvSpPr>
        <p:spPr>
          <a:xfrm>
            <a:off x="2470708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 descr=""/>
          <p:cNvSpPr/>
          <p:nvPr/>
        </p:nvSpPr>
        <p:spPr>
          <a:xfrm>
            <a:off x="2680106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 descr=""/>
          <p:cNvSpPr/>
          <p:nvPr/>
        </p:nvSpPr>
        <p:spPr>
          <a:xfrm>
            <a:off x="2889504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 descr=""/>
          <p:cNvSpPr/>
          <p:nvPr/>
        </p:nvSpPr>
        <p:spPr>
          <a:xfrm>
            <a:off x="3098901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 descr=""/>
          <p:cNvSpPr/>
          <p:nvPr/>
        </p:nvSpPr>
        <p:spPr>
          <a:xfrm>
            <a:off x="3308299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 descr=""/>
          <p:cNvSpPr/>
          <p:nvPr/>
        </p:nvSpPr>
        <p:spPr>
          <a:xfrm>
            <a:off x="3517696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 descr=""/>
          <p:cNvSpPr/>
          <p:nvPr/>
        </p:nvSpPr>
        <p:spPr>
          <a:xfrm>
            <a:off x="3727094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 descr=""/>
          <p:cNvSpPr/>
          <p:nvPr/>
        </p:nvSpPr>
        <p:spPr>
          <a:xfrm>
            <a:off x="3936491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 descr=""/>
          <p:cNvSpPr/>
          <p:nvPr/>
        </p:nvSpPr>
        <p:spPr>
          <a:xfrm>
            <a:off x="4145889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 descr=""/>
          <p:cNvSpPr/>
          <p:nvPr/>
        </p:nvSpPr>
        <p:spPr>
          <a:xfrm>
            <a:off x="4355287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 descr=""/>
          <p:cNvSpPr/>
          <p:nvPr/>
        </p:nvSpPr>
        <p:spPr>
          <a:xfrm>
            <a:off x="4564684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 descr=""/>
          <p:cNvSpPr/>
          <p:nvPr/>
        </p:nvSpPr>
        <p:spPr>
          <a:xfrm>
            <a:off x="4774082" y="4590288"/>
            <a:ext cx="155448" cy="118872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 descr="Keyword baseline: 31/120 · 25.8%"/>
          <p:cNvSpPr txBox="1"/>
          <p:nvPr/>
        </p:nvSpPr>
        <p:spPr>
          <a:xfrm>
            <a:off x="777240" y="5047488"/>
            <a:ext cx="4297680" cy="42976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1717B"/>
                </a:solidFill>
                <a:latin typeface="Arial"/>
              </a:defRPr>
            </a:pPr>
            <a:r>
              <a:t>Keyword baseline: 31/120 · 25.8%</a:t>
            </a:r>
          </a:p>
        </p:txBody>
      </p:sp>
      <p:sp>
        <p:nvSpPr>
          <p:cNvPr id="132" name="TextBox 131" descr="END-TO-END · SAME 111 ELIGIBLE TASKS"/>
          <p:cNvSpPr txBox="1"/>
          <p:nvPr/>
        </p:nvSpPr>
        <p:spPr>
          <a:xfrm>
            <a:off x="5650992" y="2468880"/>
            <a:ext cx="557784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1717B"/>
                </a:solidFill>
                <a:latin typeface="Arial"/>
              </a:defRPr>
            </a:pPr>
            <a:r>
              <a:t>END-TO-END · SAME 111 ELIGIBLE TASKS</a:t>
            </a:r>
          </a:p>
        </p:txBody>
      </p:sp>
      <p:sp>
        <p:nvSpPr>
          <p:cNvPr id="133" name="TextBox 132" descr="Gold command"/>
          <p:cNvSpPr txBox="1"/>
          <p:nvPr/>
        </p:nvSpPr>
        <p:spPr>
          <a:xfrm>
            <a:off x="5650992" y="3136392"/>
            <a:ext cx="260604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A3B"/>
                </a:solidFill>
                <a:latin typeface="Arial"/>
              </a:defRPr>
            </a:pPr>
            <a:r>
              <a:t>Gold command</a:t>
            </a:r>
          </a:p>
        </p:txBody>
      </p:sp>
      <p:sp>
        <p:nvSpPr>
          <p:cNvPr id="134" name="TextBox 133" descr="57/111"/>
          <p:cNvSpPr txBox="1"/>
          <p:nvPr/>
        </p:nvSpPr>
        <p:spPr>
          <a:xfrm>
            <a:off x="8823960" y="2990088"/>
            <a:ext cx="260604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500" b="1">
                <a:solidFill>
                  <a:srgbClr val="3567A0"/>
                </a:solidFill>
                <a:latin typeface="Arial"/>
              </a:defRPr>
            </a:pPr>
            <a:r>
              <a:t>57/111</a:t>
            </a:r>
          </a:p>
        </p:txBody>
      </p:sp>
      <p:sp>
        <p:nvSpPr>
          <p:cNvPr id="135" name="Rounded Rectangle 134" descr=""/>
          <p:cNvSpPr/>
          <p:nvPr/>
        </p:nvSpPr>
        <p:spPr>
          <a:xfrm>
            <a:off x="5650992" y="3675887"/>
            <a:ext cx="507492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 descr=""/>
          <p:cNvSpPr/>
          <p:nvPr/>
        </p:nvSpPr>
        <p:spPr>
          <a:xfrm>
            <a:off x="5650992" y="3675887"/>
            <a:ext cx="2606039" cy="201168"/>
          </a:xfrm>
          <a:prstGeom prst="roundRect">
            <a:avLst>
              <a:gd name="adj" fmla="val 13000"/>
            </a:avLst>
          </a:prstGeom>
          <a:solidFill>
            <a:srgbClr val="35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 descr="Parsed command"/>
          <p:cNvSpPr txBox="1"/>
          <p:nvPr/>
        </p:nvSpPr>
        <p:spPr>
          <a:xfrm>
            <a:off x="5650992" y="4242816"/>
            <a:ext cx="260604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A3B"/>
                </a:solidFill>
                <a:latin typeface="Arial"/>
              </a:defRPr>
            </a:pPr>
            <a:r>
              <a:t>Parsed command</a:t>
            </a:r>
          </a:p>
        </p:txBody>
      </p:sp>
      <p:sp>
        <p:nvSpPr>
          <p:cNvPr id="138" name="TextBox 137" descr="51/111"/>
          <p:cNvSpPr txBox="1"/>
          <p:nvPr/>
        </p:nvSpPr>
        <p:spPr>
          <a:xfrm>
            <a:off x="8823960" y="4096512"/>
            <a:ext cx="260604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500" b="1">
                <a:solidFill>
                  <a:srgbClr val="067F7C"/>
                </a:solidFill>
                <a:latin typeface="Arial"/>
              </a:defRPr>
            </a:pPr>
            <a:r>
              <a:t>51/111</a:t>
            </a:r>
          </a:p>
        </p:txBody>
      </p:sp>
      <p:sp>
        <p:nvSpPr>
          <p:cNvPr id="139" name="Rounded Rectangle 138" descr=""/>
          <p:cNvSpPr/>
          <p:nvPr/>
        </p:nvSpPr>
        <p:spPr>
          <a:xfrm>
            <a:off x="5650992" y="4782312"/>
            <a:ext cx="507492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 descr=""/>
          <p:cNvSpPr/>
          <p:nvPr/>
        </p:nvSpPr>
        <p:spPr>
          <a:xfrm>
            <a:off x="5650992" y="4782312"/>
            <a:ext cx="2331720" cy="201168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 descr="Parsing costs 6 net successes (−5.4 pp)."/>
          <p:cNvSpPr txBox="1"/>
          <p:nvPr/>
        </p:nvSpPr>
        <p:spPr>
          <a:xfrm>
            <a:off x="5650992" y="5303520"/>
            <a:ext cx="5486400" cy="4389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A3B"/>
                </a:solidFill>
                <a:latin typeface="Arial"/>
              </a:defRPr>
            </a:pPr>
            <a:r>
              <a:t>Parsing costs 6 net successes (−5.4 pp).</a:t>
            </a:r>
          </a:p>
        </p:txBody>
      </p:sp>
      <p:sp>
        <p:nvSpPr>
          <p:cNvPr id="142" name="TextBox 141" descr="Nine pushes excluded: gold destination outside arena. Tasks reuse 10 reset seeds; budget 300."/>
          <p:cNvSpPr txBox="1"/>
          <p:nvPr/>
        </p:nvSpPr>
        <p:spPr>
          <a:xfrm>
            <a:off x="621792" y="5916168"/>
            <a:ext cx="10972800" cy="28346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Nine pushes excluded: gold destination outside arena. Tasks reuse 10 reset seeds; budget 300.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6 · TURNS ARE NOT IN-PLACE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06 · TURNS ARE NOT IN-PLACE</a:t>
            </a:r>
          </a:p>
        </p:txBody>
      </p:sp>
      <p:sp>
        <p:nvSpPr>
          <p:cNvPr id="3" name="TextBox 2" descr="The T turns, but it slides while turning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The T turns, but it slides while turning.</a:t>
            </a:r>
          </a:p>
        </p:txBody>
      </p:sp>
      <p:sp>
        <p:nvSpPr>
          <p:cNvPr id="4" name="TextBox 3" descr="A looser task success must not be presented as an in-place rotation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A looser task success must not be presented as an in-place rotation.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8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8" name="Picture 7" descr="turn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576"/>
            <a:ext cx="7443216" cy="3673275"/>
          </a:xfrm>
          <a:prstGeom prst="rect">
            <a:avLst/>
          </a:prstGeom>
        </p:spPr>
      </p:pic>
      <p:sp>
        <p:nvSpPr>
          <p:cNvPr id="9" name="TextBox 8" descr="BREADCRUMBS"/>
          <p:cNvSpPr txBox="1"/>
          <p:nvPr/>
        </p:nvSpPr>
        <p:spPr>
          <a:xfrm>
            <a:off x="8439912" y="2423160"/>
            <a:ext cx="283464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BREADCRUMBS</a:t>
            </a:r>
          </a:p>
        </p:txBody>
      </p:sp>
      <p:sp>
        <p:nvSpPr>
          <p:cNvPr id="10" name="TextBox 9" descr="8/20"/>
          <p:cNvSpPr txBox="1"/>
          <p:nvPr/>
        </p:nvSpPr>
        <p:spPr>
          <a:xfrm>
            <a:off x="8439912" y="2926080"/>
            <a:ext cx="2834640" cy="69494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067F7C"/>
                </a:solidFill>
                <a:latin typeface="Arial"/>
              </a:defRPr>
            </a:pPr>
            <a:r>
              <a:t>8/20</a:t>
            </a:r>
          </a:p>
        </p:txBody>
      </p:sp>
      <p:sp>
        <p:nvSpPr>
          <p:cNvPr id="11" name="TextBox 10" descr="turn tasks reached&#10;with &lt;40 px drift"/>
          <p:cNvSpPr txBox="1"/>
          <p:nvPr/>
        </p:nvSpPr>
        <p:spPr>
          <a:xfrm>
            <a:off x="8439912" y="3630168"/>
            <a:ext cx="2834640" cy="5760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42A3B"/>
                </a:solidFill>
                <a:latin typeface="Arial"/>
              </a:defRPr>
            </a:pPr>
            <a:r>
              <a:t>turn tasks reached</a:t>
            </a:r>
          </a:p>
          <a:p>
            <a:pPr>
              <a:spcAft>
                <a:spcPts val="600"/>
              </a:spcAft>
              <a:defRPr sz="1800" b="0">
                <a:solidFill>
                  <a:srgbClr val="142A3B"/>
                </a:solidFill>
                <a:latin typeface="Arial"/>
              </a:defRPr>
            </a:pPr>
            <a:r>
              <a:t>with &lt;40 px drift</a:t>
            </a:r>
          </a:p>
        </p:txBody>
      </p:sp>
      <p:sp>
        <p:nvSpPr>
          <p:cNvPr id="12" name="TextBox 11" descr="0/20"/>
          <p:cNvSpPr txBox="1"/>
          <p:nvPr/>
        </p:nvSpPr>
        <p:spPr>
          <a:xfrm>
            <a:off x="8439912" y="4443984"/>
            <a:ext cx="2834640" cy="6675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B96643"/>
                </a:solidFill>
                <a:latin typeface="Arial"/>
              </a:defRPr>
            </a:pPr>
            <a:r>
              <a:t>0/20</a:t>
            </a:r>
          </a:p>
        </p:txBody>
      </p:sp>
      <p:sp>
        <p:nvSpPr>
          <p:cNvPr id="13" name="TextBox 12" descr="pass the stricter&#10;&lt;15 px in-place gate"/>
          <p:cNvSpPr txBox="1"/>
          <p:nvPr/>
        </p:nvSpPr>
        <p:spPr>
          <a:xfrm>
            <a:off x="8439912" y="5148072"/>
            <a:ext cx="283464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42A3B"/>
                </a:solidFill>
                <a:latin typeface="Arial"/>
              </a:defRPr>
            </a:pPr>
            <a:r>
              <a:t>pass the stricter</a:t>
            </a:r>
          </a:p>
          <a:p>
            <a:pPr>
              <a:spcAft>
                <a:spcPts val="600"/>
              </a:spcAft>
              <a:defRPr sz="1800" b="0">
                <a:solidFill>
                  <a:srgbClr val="142A3B"/>
                </a:solidFill>
                <a:latin typeface="Arial"/>
              </a:defRPr>
            </a:pPr>
            <a:r>
              <a:t>&lt;15 px in-place gate</a:t>
            </a:r>
          </a:p>
        </p:txBody>
      </p:sp>
      <p:sp>
        <p:nvSpPr>
          <p:cNvPr id="14" name="TextBox 13" descr="Flat: 4/20 turns, 1/20 strict. In-place turns exist in demos: 8,040 nodes across 1,691 episodes."/>
          <p:cNvSpPr txBox="1"/>
          <p:nvPr/>
        </p:nvSpPr>
        <p:spPr>
          <a:xfrm>
            <a:off x="621792" y="5925312"/>
            <a:ext cx="1097280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Flat: 4/20 turns, 1/20 strict. In-place turns exist in demos: 8,040 nodes across 1,691 episodes.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7 · A HEAD INSTEAD OF THE GRAPH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07 · A HEAD INSTEAD OF THE GRAPH</a:t>
            </a:r>
          </a:p>
        </p:txBody>
      </p:sp>
      <p:sp>
        <p:nvSpPr>
          <p:cNvPr id="3" name="TextBox 2" descr="Lower latent error did not deliver better control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Lower latent error did not deliver better control.</a:t>
            </a:r>
          </a:p>
        </p:txBody>
      </p:sp>
      <p:sp>
        <p:nvSpPr>
          <p:cNvPr id="4" name="TextBox 3" descr="A small head predicts the next latent from start latent, current latent and a frozen text embedding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A small head predicts the next latent from start latent, current latent and a frozen text embedding.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09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585216" y="2286000"/>
            <a:ext cx="3703320" cy="21762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Text → subgoal head"/>
          <p:cNvSpPr txBox="1"/>
          <p:nvPr/>
        </p:nvSpPr>
        <p:spPr>
          <a:xfrm>
            <a:off x="749808" y="2432304"/>
            <a:ext cx="3374136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77629D"/>
                </a:solidFill>
                <a:latin typeface="Arial"/>
              </a:defRPr>
            </a:pPr>
            <a:r>
              <a:t>Text → subgoal head</a:t>
            </a:r>
          </a:p>
        </p:txBody>
      </p:sp>
      <p:sp>
        <p:nvSpPr>
          <p:cNvPr id="10" name="TextBox 9" descr="At test time:&#10;no graph · no command parser"/>
          <p:cNvSpPr txBox="1"/>
          <p:nvPr/>
        </p:nvSpPr>
        <p:spPr>
          <a:xfrm>
            <a:off x="749808" y="3044952"/>
            <a:ext cx="3374136" cy="1344167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At test time:</a:t>
            </a:r>
          </a:p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no graph · no command parser</a:t>
            </a:r>
          </a:p>
        </p:txBody>
      </p:sp>
      <p:sp>
        <p:nvSpPr>
          <p:cNvPr id="11" name="TextBox 10" descr="0.67×"/>
          <p:cNvSpPr txBox="1"/>
          <p:nvPr/>
        </p:nvSpPr>
        <p:spPr>
          <a:xfrm>
            <a:off x="777240" y="4617720"/>
            <a:ext cx="3429000" cy="69494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100" b="1">
                <a:solidFill>
                  <a:srgbClr val="77629D"/>
                </a:solidFill>
                <a:latin typeface="Arial"/>
              </a:defRPr>
            </a:pPr>
            <a:r>
              <a:t>0.67×</a:t>
            </a:r>
          </a:p>
        </p:txBody>
      </p:sp>
      <p:sp>
        <p:nvSpPr>
          <p:cNvPr id="12" name="TextBox 11" descr="validation MSE vs copying&#10;the current latent"/>
          <p:cNvSpPr txBox="1"/>
          <p:nvPr/>
        </p:nvSpPr>
        <p:spPr>
          <a:xfrm>
            <a:off x="777240" y="5385816"/>
            <a:ext cx="333756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1717B"/>
                </a:solidFill>
                <a:latin typeface="Arial"/>
              </a:defRPr>
            </a:pPr>
            <a:r>
              <a:t>validation MSE vs copying</a:t>
            </a:r>
          </a:p>
          <a:p>
            <a:pPr>
              <a:spcAft>
                <a:spcPts val="600"/>
              </a:spcAft>
              <a:defRPr sz="1700" b="0">
                <a:solidFill>
                  <a:srgbClr val="61717B"/>
                </a:solidFill>
                <a:latin typeface="Arial"/>
              </a:defRPr>
            </a:pPr>
            <a:r>
              <a:t>the current latent</a:t>
            </a:r>
          </a:p>
        </p:txBody>
      </p:sp>
      <p:sp>
        <p:nvSpPr>
          <p:cNvPr id="13" name="TextBox 12" descr="Graph + gold command"/>
          <p:cNvSpPr txBox="1"/>
          <p:nvPr/>
        </p:nvSpPr>
        <p:spPr>
          <a:xfrm>
            <a:off x="4736592" y="2331720"/>
            <a:ext cx="621792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Graph + gold command</a:t>
            </a:r>
          </a:p>
        </p:txBody>
      </p:sp>
      <p:sp>
        <p:nvSpPr>
          <p:cNvPr id="14" name="Rounded Rectangle 13" descr=""/>
          <p:cNvSpPr/>
          <p:nvPr/>
        </p:nvSpPr>
        <p:spPr>
          <a:xfrm>
            <a:off x="4736592" y="2770632"/>
            <a:ext cx="498348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 descr=""/>
          <p:cNvSpPr/>
          <p:nvPr/>
        </p:nvSpPr>
        <p:spPr>
          <a:xfrm>
            <a:off x="4736592" y="2770632"/>
            <a:ext cx="2559084" cy="201168"/>
          </a:xfrm>
          <a:prstGeom prst="roundRect">
            <a:avLst>
              <a:gd name="adj" fmla="val 13000"/>
            </a:avLst>
          </a:prstGeom>
          <a:solidFill>
            <a:srgbClr val="35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 descr="57/111"/>
          <p:cNvSpPr txBox="1"/>
          <p:nvPr/>
        </p:nvSpPr>
        <p:spPr>
          <a:xfrm>
            <a:off x="9857232" y="2688336"/>
            <a:ext cx="11887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567A0"/>
                </a:solidFill>
                <a:latin typeface="Arial"/>
              </a:defRPr>
            </a:pPr>
            <a:r>
              <a:t>57/111</a:t>
            </a:r>
          </a:p>
        </p:txBody>
      </p:sp>
      <p:sp>
        <p:nvSpPr>
          <p:cNvPr id="17" name="TextBox 16" descr="Graph + parsed command"/>
          <p:cNvSpPr txBox="1"/>
          <p:nvPr/>
        </p:nvSpPr>
        <p:spPr>
          <a:xfrm>
            <a:off x="4736592" y="3200400"/>
            <a:ext cx="621792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Graph + parsed command</a:t>
            </a:r>
          </a:p>
        </p:txBody>
      </p:sp>
      <p:sp>
        <p:nvSpPr>
          <p:cNvPr id="18" name="Rounded Rectangle 17" descr=""/>
          <p:cNvSpPr/>
          <p:nvPr/>
        </p:nvSpPr>
        <p:spPr>
          <a:xfrm>
            <a:off x="4736592" y="3639312"/>
            <a:ext cx="498348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 descr=""/>
          <p:cNvSpPr/>
          <p:nvPr/>
        </p:nvSpPr>
        <p:spPr>
          <a:xfrm>
            <a:off x="4736592" y="3639312"/>
            <a:ext cx="2289707" cy="201168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 descr="51/111"/>
          <p:cNvSpPr txBox="1"/>
          <p:nvPr/>
        </p:nvSpPr>
        <p:spPr>
          <a:xfrm>
            <a:off x="9857232" y="3557016"/>
            <a:ext cx="11887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7F7C"/>
                </a:solidFill>
                <a:latin typeface="Arial"/>
              </a:defRPr>
            </a:pPr>
            <a:r>
              <a:t>51/111</a:t>
            </a:r>
          </a:p>
        </p:txBody>
      </p:sp>
      <p:sp>
        <p:nvSpPr>
          <p:cNvPr id="21" name="TextBox 20" descr="Learned subgoal head"/>
          <p:cNvSpPr txBox="1"/>
          <p:nvPr/>
        </p:nvSpPr>
        <p:spPr>
          <a:xfrm>
            <a:off x="4736592" y="4069079"/>
            <a:ext cx="621792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Learned subgoal head</a:t>
            </a:r>
          </a:p>
        </p:txBody>
      </p:sp>
      <p:sp>
        <p:nvSpPr>
          <p:cNvPr id="22" name="Rounded Rectangle 21" descr=""/>
          <p:cNvSpPr/>
          <p:nvPr/>
        </p:nvSpPr>
        <p:spPr>
          <a:xfrm>
            <a:off x="4736592" y="4507992"/>
            <a:ext cx="498348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 descr=""/>
          <p:cNvSpPr/>
          <p:nvPr/>
        </p:nvSpPr>
        <p:spPr>
          <a:xfrm>
            <a:off x="4736592" y="4507992"/>
            <a:ext cx="808131" cy="201168"/>
          </a:xfrm>
          <a:prstGeom prst="roundRect">
            <a:avLst>
              <a:gd name="adj" fmla="val 13000"/>
            </a:avLst>
          </a:prstGeom>
          <a:solidFill>
            <a:srgbClr val="77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 descr="18/111"/>
          <p:cNvSpPr txBox="1"/>
          <p:nvPr/>
        </p:nvSpPr>
        <p:spPr>
          <a:xfrm>
            <a:off x="9857232" y="4425696"/>
            <a:ext cx="11887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7629D"/>
                </a:solidFill>
                <a:latin typeface="Arial"/>
              </a:defRPr>
            </a:pPr>
            <a:r>
              <a:t>18/111</a:t>
            </a:r>
          </a:p>
        </p:txBody>
      </p:sp>
      <p:sp>
        <p:nvSpPr>
          <p:cNvPr id="25" name="TextBox 24" descr="Head + shuffled text"/>
          <p:cNvSpPr txBox="1"/>
          <p:nvPr/>
        </p:nvSpPr>
        <p:spPr>
          <a:xfrm>
            <a:off x="4736592" y="4937759"/>
            <a:ext cx="6217920" cy="34747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Head + shuffled text</a:t>
            </a:r>
          </a:p>
        </p:txBody>
      </p:sp>
      <p:sp>
        <p:nvSpPr>
          <p:cNvPr id="26" name="Rounded Rectangle 25" descr=""/>
          <p:cNvSpPr/>
          <p:nvPr/>
        </p:nvSpPr>
        <p:spPr>
          <a:xfrm>
            <a:off x="4736592" y="5376671"/>
            <a:ext cx="498348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 descr=""/>
          <p:cNvSpPr/>
          <p:nvPr/>
        </p:nvSpPr>
        <p:spPr>
          <a:xfrm>
            <a:off x="4736592" y="5376671"/>
            <a:ext cx="448962" cy="201168"/>
          </a:xfrm>
          <a:prstGeom prst="roundRect">
            <a:avLst>
              <a:gd name="adj" fmla="val 13000"/>
            </a:avLst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 descr="10/111"/>
          <p:cNvSpPr txBox="1"/>
          <p:nvPr/>
        </p:nvSpPr>
        <p:spPr>
          <a:xfrm>
            <a:off x="9857232" y="5294375"/>
            <a:ext cx="11887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AFB9C0"/>
                </a:solidFill>
                <a:latin typeface="Arial"/>
              </a:defRPr>
            </a:pPr>
            <a:r>
              <a:t>10/111</a:t>
            </a:r>
          </a:p>
        </p:txBody>
      </p:sp>
      <p:sp>
        <p:nvSpPr>
          <p:cNvPr id="29" name="TextBox 28" descr="Same eligible sentences and starts · budget 300"/>
          <p:cNvSpPr txBox="1"/>
          <p:nvPr/>
        </p:nvSpPr>
        <p:spPr>
          <a:xfrm>
            <a:off x="4736592" y="5925312"/>
            <a:ext cx="6583680" cy="2926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Same eligible sentences and starts · budget 300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8 · WHAT THE DEFENCE SHOULD TAKE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EEEA"/>
                </a:solidFill>
                <a:latin typeface="Arial"/>
              </a:defRPr>
            </a:pPr>
            <a:r>
              <a:t>08 · WHAT THE DEFENCE SHOULD TAKE</a:t>
            </a:r>
          </a:p>
        </p:txBody>
      </p:sp>
      <p:sp>
        <p:nvSpPr>
          <p:cNvPr id="3" name="TextBox 2" descr="Words can name routes the frozen planner can follow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Words can name routes the frozen planner can follow.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61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D9EEEA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6" name="TextBox 5" descr="10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D9EEE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Oval 6" descr=""/>
          <p:cNvSpPr/>
          <p:nvPr/>
        </p:nvSpPr>
        <p:spPr>
          <a:xfrm>
            <a:off x="603504" y="2240280"/>
            <a:ext cx="429768" cy="429768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 descr="01"/>
          <p:cNvSpPr txBox="1"/>
          <p:nvPr/>
        </p:nvSpPr>
        <p:spPr>
          <a:xfrm>
            <a:off x="603504" y="2276856"/>
            <a:ext cx="429768" cy="402335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 descr="Nearby demo frames make distant goals easier."/>
          <p:cNvSpPr txBox="1"/>
          <p:nvPr/>
        </p:nvSpPr>
        <p:spPr>
          <a:xfrm>
            <a:off x="1280160" y="2203704"/>
            <a:ext cx="9692640" cy="42976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Nearby demo frames make distant goals easier.</a:t>
            </a:r>
          </a:p>
        </p:txBody>
      </p:sp>
      <p:sp>
        <p:nvSpPr>
          <p:cNvPr id="10" name="TextBox 9" descr="Offset 100: 10/50 → 29/50 with breadcrumbs."/>
          <p:cNvSpPr txBox="1"/>
          <p:nvPr/>
        </p:nvSpPr>
        <p:spPr>
          <a:xfrm>
            <a:off x="1280160" y="2715768"/>
            <a:ext cx="969264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D9EEEA"/>
                </a:solidFill>
                <a:latin typeface="Arial"/>
              </a:defRPr>
            </a:pPr>
            <a:r>
              <a:t>Offset 100: 10/50 → 29/50 with breadcrumbs.</a:t>
            </a:r>
          </a:p>
        </p:txBody>
      </p:sp>
      <p:sp>
        <p:nvSpPr>
          <p:cNvPr id="11" name="Oval 10" descr=""/>
          <p:cNvSpPr/>
          <p:nvPr/>
        </p:nvSpPr>
        <p:spPr>
          <a:xfrm>
            <a:off x="603504" y="3447288"/>
            <a:ext cx="429768" cy="429768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 descr="02"/>
          <p:cNvSpPr txBox="1"/>
          <p:nvPr/>
        </p:nvSpPr>
        <p:spPr>
          <a:xfrm>
            <a:off x="603504" y="3483864"/>
            <a:ext cx="429768" cy="402335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 descr="Language can select the route."/>
          <p:cNvSpPr txBox="1"/>
          <p:nvPr/>
        </p:nvSpPr>
        <p:spPr>
          <a:xfrm>
            <a:off x="1280160" y="3410712"/>
            <a:ext cx="9692640" cy="42976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Language can select the route.</a:t>
            </a:r>
          </a:p>
        </p:txBody>
      </p:sp>
      <p:sp>
        <p:nvSpPr>
          <p:cNvPr id="14" name="TextBox 13" descr="101/120 parsed correctly; 57 → 51 successes after parsing."/>
          <p:cNvSpPr txBox="1"/>
          <p:nvPr/>
        </p:nvSpPr>
        <p:spPr>
          <a:xfrm>
            <a:off x="1280160" y="3922776"/>
            <a:ext cx="969264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D9EEEA"/>
                </a:solidFill>
                <a:latin typeface="Arial"/>
              </a:defRPr>
            </a:pPr>
            <a:r>
              <a:t>101/120 parsed correctly; 57 → 51 successes after parsing.</a:t>
            </a:r>
          </a:p>
        </p:txBody>
      </p:sp>
      <p:sp>
        <p:nvSpPr>
          <p:cNvPr id="15" name="Oval 14" descr=""/>
          <p:cNvSpPr/>
          <p:nvPr/>
        </p:nvSpPr>
        <p:spPr>
          <a:xfrm>
            <a:off x="603504" y="4654296"/>
            <a:ext cx="429768" cy="429768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 descr="03"/>
          <p:cNvSpPr txBox="1"/>
          <p:nvPr/>
        </p:nvSpPr>
        <p:spPr>
          <a:xfrm>
            <a:off x="603504" y="4690872"/>
            <a:ext cx="429768" cy="402335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 descr="Reachability is still the limiting factor."/>
          <p:cNvSpPr txBox="1"/>
          <p:nvPr/>
        </p:nvSpPr>
        <p:spPr>
          <a:xfrm>
            <a:off x="1280160" y="4617720"/>
            <a:ext cx="9692640" cy="42976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Reachability is still the limiting factor.</a:t>
            </a:r>
          </a:p>
        </p:txBody>
      </p:sp>
      <p:sp>
        <p:nvSpPr>
          <p:cNvPr id="18" name="TextBox 17" descr="Strict in-place turns: 0/20. Learned head: 18/111."/>
          <p:cNvSpPr txBox="1"/>
          <p:nvPr/>
        </p:nvSpPr>
        <p:spPr>
          <a:xfrm>
            <a:off x="1280160" y="5129783"/>
            <a:ext cx="9692640" cy="4114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D9EEEA"/>
                </a:solidFill>
                <a:latin typeface="Arial"/>
              </a:defRPr>
            </a:pPr>
            <a:r>
              <a:t>Strict in-place turns: 0/20. Learned head: 18/111.</a:t>
            </a:r>
          </a:p>
        </p:txBody>
      </p:sp>
      <p:sp>
        <p:nvSpPr>
          <p:cNvPr id="19" name="TextBox 18" descr="Frozen LeWM throughout · descriptive results on the saved task sets · no new runs for this deck"/>
          <p:cNvSpPr txBox="1"/>
          <p:nvPr/>
        </p:nvSpPr>
        <p:spPr>
          <a:xfrm>
            <a:off x="621792" y="5980176"/>
            <a:ext cx="10972800" cy="25603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D9EEEA"/>
                </a:solidFill>
                <a:latin typeface="Arial"/>
              </a:defRPr>
            </a:pPr>
            <a:r>
              <a:t>Frozen LeWM throughout · descriptive results on the saved task sets · no new runs for this deck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09 · CONCLUSION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EEEA"/>
                </a:solidFill>
                <a:latin typeface="Arial"/>
              </a:defRPr>
            </a:pPr>
            <a:r>
              <a:t>09 · CONCLUSION</a:t>
            </a:r>
          </a:p>
        </p:txBody>
      </p:sp>
      <p:sp>
        <p:nvSpPr>
          <p:cNvPr id="3" name="TextBox 2" descr="A frozen world model can follow words, one reachable hop at a time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A frozen world model can follow words, one reachable hop at a time.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61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D9EEEA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6" name="TextBox 5" descr="11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D9EEE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 descr=""/>
          <p:cNvSpPr/>
          <p:nvPr/>
        </p:nvSpPr>
        <p:spPr>
          <a:xfrm>
            <a:off x="548640" y="2148840"/>
            <a:ext cx="5440680" cy="3200400"/>
          </a:xfrm>
          <a:prstGeom prst="roundRect">
            <a:avLst>
              <a:gd name="adj" fmla="val 13000"/>
            </a:avLst>
          </a:prstGeom>
          <a:solidFill>
            <a:srgbClr val="1E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 descr="WHAT WE SHOWED"/>
          <p:cNvSpPr txBox="1"/>
          <p:nvPr/>
        </p:nvSpPr>
        <p:spPr>
          <a:xfrm>
            <a:off x="822959" y="2331720"/>
            <a:ext cx="493776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EEEA"/>
                </a:solidFill>
                <a:latin typeface="Arial"/>
              </a:defRPr>
            </a:pPr>
            <a:r>
              <a:t>WHAT WE SHOWED</a:t>
            </a:r>
          </a:p>
        </p:txBody>
      </p:sp>
      <p:sp>
        <p:nvSpPr>
          <p:cNvPr id="9" name="Oval 8" descr=""/>
          <p:cNvSpPr/>
          <p:nvPr/>
        </p:nvSpPr>
        <p:spPr>
          <a:xfrm>
            <a:off x="841247" y="2852927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 descr="Demo breadcrumbs lift success by 20–38 points on demo goals."/>
          <p:cNvSpPr txBox="1"/>
          <p:nvPr/>
        </p:nvSpPr>
        <p:spPr>
          <a:xfrm>
            <a:off x="1152144" y="2788920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Demo breadcrumbs lift success by 20–38 points on demo goals.</a:t>
            </a:r>
          </a:p>
        </p:txBody>
      </p:sp>
      <p:sp>
        <p:nvSpPr>
          <p:cNvPr id="11" name="Oval 10" descr=""/>
          <p:cNvSpPr/>
          <p:nvPr/>
        </p:nvSpPr>
        <p:spPr>
          <a:xfrm>
            <a:off x="841247" y="3657599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 descr="Free sentences work end to end: 51/111 (57 with perfect parsing)."/>
          <p:cNvSpPr txBox="1"/>
          <p:nvPr/>
        </p:nvSpPr>
        <p:spPr>
          <a:xfrm>
            <a:off x="1152144" y="3593591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Free sentences work end to end: 51/111 (57 with perfect parsing).</a:t>
            </a:r>
          </a:p>
        </p:txBody>
      </p:sp>
      <p:sp>
        <p:nvSpPr>
          <p:cNvPr id="13" name="Oval 12" descr=""/>
          <p:cNvSpPr/>
          <p:nvPr/>
        </p:nvSpPr>
        <p:spPr>
          <a:xfrm>
            <a:off x="841247" y="4462272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 descr="Words can enter the latent directly: a first signal, mainly for “put it on the target”."/>
          <p:cNvSpPr txBox="1"/>
          <p:nvPr/>
        </p:nvSpPr>
        <p:spPr>
          <a:xfrm>
            <a:off x="1152144" y="4398264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Words can enter the latent directly: a first signal, mainly for “put it on the target”.</a:t>
            </a:r>
          </a:p>
        </p:txBody>
      </p:sp>
      <p:sp>
        <p:nvSpPr>
          <p:cNvPr id="15" name="Rounded Rectangle 14" descr=""/>
          <p:cNvSpPr/>
          <p:nvPr/>
        </p:nvSpPr>
        <p:spPr>
          <a:xfrm>
            <a:off x="6172200" y="2148840"/>
            <a:ext cx="5440680" cy="3200400"/>
          </a:xfrm>
          <a:prstGeom prst="roundRect">
            <a:avLst>
              <a:gd name="adj" fmla="val 13000"/>
            </a:avLst>
          </a:prstGeom>
          <a:solidFill>
            <a:srgbClr val="1E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 descr="WHAT COMES NEXT"/>
          <p:cNvSpPr txBox="1"/>
          <p:nvPr/>
        </p:nvSpPr>
        <p:spPr>
          <a:xfrm>
            <a:off x="6446520" y="2331720"/>
            <a:ext cx="493776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EEEA"/>
                </a:solidFill>
                <a:latin typeface="Arial"/>
              </a:defRPr>
            </a:pPr>
            <a:r>
              <a:t>WHAT COMES NEXT</a:t>
            </a:r>
          </a:p>
        </p:txBody>
      </p:sp>
      <p:sp>
        <p:nvSpPr>
          <p:cNvPr id="17" name="Oval 16" descr=""/>
          <p:cNvSpPr/>
          <p:nvPr/>
        </p:nvSpPr>
        <p:spPr>
          <a:xfrm>
            <a:off x="6464808" y="2852927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 descr="Strict in-place turns (0/20 today)"/>
          <p:cNvSpPr txBox="1"/>
          <p:nvPr/>
        </p:nvSpPr>
        <p:spPr>
          <a:xfrm>
            <a:off x="6775704" y="2788920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Strict in-place turns (0/20 today)</a:t>
            </a:r>
          </a:p>
        </p:txBody>
      </p:sp>
      <p:sp>
        <p:nvSpPr>
          <p:cNvPr id="19" name="Oval 18" descr=""/>
          <p:cNvSpPr/>
          <p:nvPr/>
        </p:nvSpPr>
        <p:spPr>
          <a:xfrm>
            <a:off x="6464808" y="3419856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 descr="Random live goals (3/20 today)"/>
          <p:cNvSpPr txBox="1"/>
          <p:nvPr/>
        </p:nvSpPr>
        <p:spPr>
          <a:xfrm>
            <a:off x="6775704" y="3355848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Random live goals (3/20 today)</a:t>
            </a:r>
          </a:p>
        </p:txBody>
      </p:sp>
      <p:sp>
        <p:nvSpPr>
          <p:cNvPr id="21" name="Oval 20" descr=""/>
          <p:cNvSpPr/>
          <p:nvPr/>
        </p:nvSpPr>
        <p:spPr>
          <a:xfrm>
            <a:off x="6464808" y="3986784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 descr="Latent head: more data, relative commands"/>
          <p:cNvSpPr txBox="1"/>
          <p:nvPr/>
        </p:nvSpPr>
        <p:spPr>
          <a:xfrm>
            <a:off x="6775704" y="3922776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Latent head: more data, relative commands</a:t>
            </a:r>
          </a:p>
        </p:txBody>
      </p:sp>
      <p:sp>
        <p:nvSpPr>
          <p:cNvPr id="23" name="Oval 22" descr=""/>
          <p:cNvSpPr/>
          <p:nvPr/>
        </p:nvSpPr>
        <p:spPr>
          <a:xfrm>
            <a:off x="6464808" y="4553712"/>
            <a:ext cx="146304" cy="146304"/>
          </a:xfrm>
          <a:prstGeom prst="ellipse">
            <a:avLst/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 descr="The lab UR3 arm with teleoperated demos"/>
          <p:cNvSpPr txBox="1"/>
          <p:nvPr/>
        </p:nvSpPr>
        <p:spPr>
          <a:xfrm>
            <a:off x="6775704" y="4489704"/>
            <a:ext cx="4572000" cy="7315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The lab UR3 arm with teleoperated demos</a:t>
            </a:r>
          </a:p>
        </p:txBody>
      </p:sp>
      <p:sp>
        <p:nvSpPr>
          <p:cNvPr id="25" name="TextBox 24" descr="Thank you. Questions welcome."/>
          <p:cNvSpPr txBox="1"/>
          <p:nvPr/>
        </p:nvSpPr>
        <p:spPr>
          <a:xfrm>
            <a:off x="548640" y="5596128"/>
            <a:ext cx="11064240" cy="5486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Thank you. Questions welcome.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BACKUP A · PAIRED EVIDENCE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BACKUP A · PAIRED EVIDENCE</a:t>
            </a:r>
          </a:p>
        </p:txBody>
      </p:sp>
      <p:sp>
        <p:nvSpPr>
          <p:cNvPr id="3" name="TextBox 2" descr="Where did the extra successes come from?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Where did the extra successes come from?</a:t>
            </a:r>
          </a:p>
        </p:txBody>
      </p:sp>
      <p:sp>
        <p:nvSpPr>
          <p:cNvPr id="4" name="TextBox 3" descr="Matched tasks let us count gains and losses directly. These are descriptive counts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Matched tasks let us count gains and losses directly. These are descriptive counts.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12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 descr="TASK"/>
          <p:cNvSpPr txBox="1"/>
          <p:nvPr/>
        </p:nvSpPr>
        <p:spPr>
          <a:xfrm>
            <a:off x="640080" y="2331720"/>
            <a:ext cx="2468880" cy="42062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TASK</a:t>
            </a:r>
          </a:p>
        </p:txBody>
      </p:sp>
      <p:sp>
        <p:nvSpPr>
          <p:cNvPr id="9" name="TextBox 8" descr="BOTH SUCCEED"/>
          <p:cNvSpPr txBox="1"/>
          <p:nvPr/>
        </p:nvSpPr>
        <p:spPr>
          <a:xfrm>
            <a:off x="3703320" y="2331720"/>
            <a:ext cx="2468880" cy="42062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BOTH SUCCEED</a:t>
            </a:r>
          </a:p>
        </p:txBody>
      </p:sp>
      <p:sp>
        <p:nvSpPr>
          <p:cNvPr id="10" name="TextBox 9" descr="FLAT ONLY"/>
          <p:cNvSpPr txBox="1"/>
          <p:nvPr/>
        </p:nvSpPr>
        <p:spPr>
          <a:xfrm>
            <a:off x="5596128" y="2331720"/>
            <a:ext cx="2468880" cy="42062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FLAT ONLY</a:t>
            </a:r>
          </a:p>
        </p:txBody>
      </p:sp>
      <p:sp>
        <p:nvSpPr>
          <p:cNvPr id="11" name="TextBox 10" descr="CRUMBS ONLY"/>
          <p:cNvSpPr txBox="1"/>
          <p:nvPr/>
        </p:nvSpPr>
        <p:spPr>
          <a:xfrm>
            <a:off x="7498079" y="2331720"/>
            <a:ext cx="2468880" cy="42062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CRUMBS ONLY</a:t>
            </a:r>
          </a:p>
        </p:txBody>
      </p:sp>
      <p:sp>
        <p:nvSpPr>
          <p:cNvPr id="12" name="TextBox 11" descr="NEITHER"/>
          <p:cNvSpPr txBox="1"/>
          <p:nvPr/>
        </p:nvSpPr>
        <p:spPr>
          <a:xfrm>
            <a:off x="9400032" y="2331720"/>
            <a:ext cx="2468880" cy="42062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NEITHER</a:t>
            </a:r>
          </a:p>
        </p:txBody>
      </p:sp>
      <p:sp>
        <p:nvSpPr>
          <p:cNvPr id="13" name="Rounded Rectangle 12" descr=""/>
          <p:cNvSpPr/>
          <p:nvPr/>
        </p:nvSpPr>
        <p:spPr>
          <a:xfrm>
            <a:off x="576072" y="2916936"/>
            <a:ext cx="11018520" cy="566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 descr="Demo +50 · n=50"/>
          <p:cNvSpPr txBox="1"/>
          <p:nvPr/>
        </p:nvSpPr>
        <p:spPr>
          <a:xfrm>
            <a:off x="740664" y="2971800"/>
            <a:ext cx="283464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Demo +50 · n=50</a:t>
            </a:r>
          </a:p>
        </p:txBody>
      </p:sp>
      <p:sp>
        <p:nvSpPr>
          <p:cNvPr id="15" name="TextBox 14" descr="18"/>
          <p:cNvSpPr txBox="1"/>
          <p:nvPr/>
        </p:nvSpPr>
        <p:spPr>
          <a:xfrm>
            <a:off x="3703320" y="297180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6" name="TextBox 15" descr="6"/>
          <p:cNvSpPr txBox="1"/>
          <p:nvPr/>
        </p:nvSpPr>
        <p:spPr>
          <a:xfrm>
            <a:off x="5596128" y="297180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" name="TextBox 16" descr="16"/>
          <p:cNvSpPr txBox="1"/>
          <p:nvPr/>
        </p:nvSpPr>
        <p:spPr>
          <a:xfrm>
            <a:off x="7498079" y="297180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8" name="TextBox 17" descr="10"/>
          <p:cNvSpPr txBox="1"/>
          <p:nvPr/>
        </p:nvSpPr>
        <p:spPr>
          <a:xfrm>
            <a:off x="9400032" y="297180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9" name="Rounded Rectangle 18" descr=""/>
          <p:cNvSpPr/>
          <p:nvPr/>
        </p:nvSpPr>
        <p:spPr>
          <a:xfrm>
            <a:off x="576072" y="3557016"/>
            <a:ext cx="11018520" cy="566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 descr="Demo +100 · n=50"/>
          <p:cNvSpPr txBox="1"/>
          <p:nvPr/>
        </p:nvSpPr>
        <p:spPr>
          <a:xfrm>
            <a:off x="740664" y="3611880"/>
            <a:ext cx="283464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Demo +100 · n=50</a:t>
            </a:r>
          </a:p>
        </p:txBody>
      </p:sp>
      <p:sp>
        <p:nvSpPr>
          <p:cNvPr id="21" name="TextBox 20" descr="6"/>
          <p:cNvSpPr txBox="1"/>
          <p:nvPr/>
        </p:nvSpPr>
        <p:spPr>
          <a:xfrm>
            <a:off x="3703320" y="361188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TextBox 21" descr="4"/>
          <p:cNvSpPr txBox="1"/>
          <p:nvPr/>
        </p:nvSpPr>
        <p:spPr>
          <a:xfrm>
            <a:off x="5596128" y="361188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 descr="23"/>
          <p:cNvSpPr txBox="1"/>
          <p:nvPr/>
        </p:nvSpPr>
        <p:spPr>
          <a:xfrm>
            <a:off x="7498079" y="361188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24" name="TextBox 23" descr="17"/>
          <p:cNvSpPr txBox="1"/>
          <p:nvPr/>
        </p:nvSpPr>
        <p:spPr>
          <a:xfrm>
            <a:off x="9400032" y="361188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25" name="Rounded Rectangle 24" descr=""/>
          <p:cNvSpPr/>
          <p:nvPr/>
        </p:nvSpPr>
        <p:spPr>
          <a:xfrm>
            <a:off x="576072" y="4197096"/>
            <a:ext cx="11018520" cy="566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 descr="Live goals · n=20"/>
          <p:cNvSpPr txBox="1"/>
          <p:nvPr/>
        </p:nvSpPr>
        <p:spPr>
          <a:xfrm>
            <a:off x="740664" y="4251960"/>
            <a:ext cx="283464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Live goals · n=20</a:t>
            </a:r>
          </a:p>
        </p:txBody>
      </p:sp>
      <p:sp>
        <p:nvSpPr>
          <p:cNvPr id="27" name="TextBox 26" descr="0"/>
          <p:cNvSpPr txBox="1"/>
          <p:nvPr/>
        </p:nvSpPr>
        <p:spPr>
          <a:xfrm>
            <a:off x="3703320" y="425196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8" name="TextBox 27" descr="0"/>
          <p:cNvSpPr txBox="1"/>
          <p:nvPr/>
        </p:nvSpPr>
        <p:spPr>
          <a:xfrm>
            <a:off x="5596128" y="425196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9" name="TextBox 28" descr="3"/>
          <p:cNvSpPr txBox="1"/>
          <p:nvPr/>
        </p:nvSpPr>
        <p:spPr>
          <a:xfrm>
            <a:off x="7498079" y="425196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 descr="17"/>
          <p:cNvSpPr txBox="1"/>
          <p:nvPr/>
        </p:nvSpPr>
        <p:spPr>
          <a:xfrm>
            <a:off x="9400032" y="425196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31" name="Rounded Rectangle 30" descr=""/>
          <p:cNvSpPr/>
          <p:nvPr/>
        </p:nvSpPr>
        <p:spPr>
          <a:xfrm>
            <a:off x="576072" y="4837176"/>
            <a:ext cx="11018520" cy="566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 descr="Templates · n=64"/>
          <p:cNvSpPr txBox="1"/>
          <p:nvPr/>
        </p:nvSpPr>
        <p:spPr>
          <a:xfrm>
            <a:off x="740664" y="4892040"/>
            <a:ext cx="283464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42A3B"/>
                </a:solidFill>
                <a:latin typeface="Arial"/>
              </a:defRPr>
            </a:pPr>
            <a:r>
              <a:t>Templates · n=64</a:t>
            </a:r>
          </a:p>
        </p:txBody>
      </p:sp>
      <p:sp>
        <p:nvSpPr>
          <p:cNvPr id="33" name="TextBox 32" descr="10"/>
          <p:cNvSpPr txBox="1"/>
          <p:nvPr/>
        </p:nvSpPr>
        <p:spPr>
          <a:xfrm>
            <a:off x="3703320" y="489204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4" name="TextBox 33" descr="8"/>
          <p:cNvSpPr txBox="1"/>
          <p:nvPr/>
        </p:nvSpPr>
        <p:spPr>
          <a:xfrm>
            <a:off x="5596128" y="489204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5" name="TextBox 34" descr="24"/>
          <p:cNvSpPr txBox="1"/>
          <p:nvPr/>
        </p:nvSpPr>
        <p:spPr>
          <a:xfrm>
            <a:off x="7498079" y="489204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67F7C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36" name="TextBox 35" descr="22"/>
          <p:cNvSpPr txBox="1"/>
          <p:nvPr/>
        </p:nvSpPr>
        <p:spPr>
          <a:xfrm>
            <a:off x="9400032" y="4892040"/>
            <a:ext cx="1371600" cy="40233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A3B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37" name="TextBox 36" descr="Offset 100: 23 gained, 4 lost → 19 net extra successes out of 50 (+38 percentage points)."/>
          <p:cNvSpPr txBox="1"/>
          <p:nvPr/>
        </p:nvSpPr>
        <p:spPr>
          <a:xfrm>
            <a:off x="640080" y="5861304"/>
            <a:ext cx="10972800" cy="329184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67F7C"/>
                </a:solidFill>
                <a:latin typeface="Arial"/>
              </a:defRPr>
            </a:pPr>
            <a:r>
              <a:t>Offset 100: 23 gained, 4 lost → 19 net extra successes out of 50 (+38 percentage points).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BACKUP B · ACTION BREAKDOWN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BACKUP B · ACTION BREAKDOWN</a:t>
            </a:r>
          </a:p>
        </p:txBody>
      </p:sp>
      <p:sp>
        <p:nvSpPr>
          <p:cNvPr id="3" name="TextBox 2" descr="The head’s text effect is mainly on target requests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The head’s text effect is mainly on target requests.</a:t>
            </a:r>
          </a:p>
        </p:txBody>
      </p:sp>
      <p:sp>
        <p:nvSpPr>
          <p:cNvPr id="4" name="TextBox 3" descr="Same 111 eligible tasks; target n=30, turns n=45, pushes n=36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Same 111 eligible tasks; target n=30, turns n=45, pushes n=36.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13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ounded Rectangle 7" descr=""/>
          <p:cNvSpPr/>
          <p:nvPr/>
        </p:nvSpPr>
        <p:spPr>
          <a:xfrm>
            <a:off x="612648" y="2331720"/>
            <a:ext cx="3493008" cy="32826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 descr="PUT ON TARGET"/>
          <p:cNvSpPr txBox="1"/>
          <p:nvPr/>
        </p:nvSpPr>
        <p:spPr>
          <a:xfrm>
            <a:off x="795528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42A3B"/>
                </a:solidFill>
                <a:latin typeface="Arial"/>
              </a:defRPr>
            </a:pPr>
            <a:r>
              <a:t>PUT ON TARGET</a:t>
            </a:r>
          </a:p>
        </p:txBody>
      </p:sp>
      <p:sp>
        <p:nvSpPr>
          <p:cNvPr id="10" name="TextBox 9" descr="Graph + parser"/>
          <p:cNvSpPr txBox="1"/>
          <p:nvPr/>
        </p:nvSpPr>
        <p:spPr>
          <a:xfrm>
            <a:off x="795528" y="3200400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Graph + parser</a:t>
            </a:r>
          </a:p>
        </p:txBody>
      </p:sp>
      <p:sp>
        <p:nvSpPr>
          <p:cNvPr id="11" name="TextBox 10" descr="20/30"/>
          <p:cNvSpPr txBox="1"/>
          <p:nvPr/>
        </p:nvSpPr>
        <p:spPr>
          <a:xfrm>
            <a:off x="2990088" y="3200400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67F7C"/>
                </a:solidFill>
                <a:latin typeface="Arial"/>
              </a:defRPr>
            </a:pPr>
            <a:r>
              <a:t>20/30</a:t>
            </a:r>
          </a:p>
        </p:txBody>
      </p:sp>
      <p:sp>
        <p:nvSpPr>
          <p:cNvPr id="12" name="Rounded Rectangle 11" descr=""/>
          <p:cNvSpPr/>
          <p:nvPr/>
        </p:nvSpPr>
        <p:spPr>
          <a:xfrm>
            <a:off x="795528" y="3566160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 descr=""/>
          <p:cNvSpPr/>
          <p:nvPr/>
        </p:nvSpPr>
        <p:spPr>
          <a:xfrm>
            <a:off x="795528" y="3566160"/>
            <a:ext cx="1981199" cy="201168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 descr="Head"/>
          <p:cNvSpPr txBox="1"/>
          <p:nvPr/>
        </p:nvSpPr>
        <p:spPr>
          <a:xfrm>
            <a:off x="795528" y="3904487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15" name="TextBox 14" descr="11/30"/>
          <p:cNvSpPr txBox="1"/>
          <p:nvPr/>
        </p:nvSpPr>
        <p:spPr>
          <a:xfrm>
            <a:off x="2990088" y="3904487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7629D"/>
                </a:solidFill>
                <a:latin typeface="Arial"/>
              </a:defRPr>
            </a:pPr>
            <a:r>
              <a:t>11/30</a:t>
            </a:r>
          </a:p>
        </p:txBody>
      </p:sp>
      <p:sp>
        <p:nvSpPr>
          <p:cNvPr id="16" name="Rounded Rectangle 15" descr=""/>
          <p:cNvSpPr/>
          <p:nvPr/>
        </p:nvSpPr>
        <p:spPr>
          <a:xfrm>
            <a:off x="795528" y="4270248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 descr=""/>
          <p:cNvSpPr/>
          <p:nvPr/>
        </p:nvSpPr>
        <p:spPr>
          <a:xfrm>
            <a:off x="795528" y="4270248"/>
            <a:ext cx="1089660" cy="201168"/>
          </a:xfrm>
          <a:prstGeom prst="roundRect">
            <a:avLst>
              <a:gd name="adj" fmla="val 13000"/>
            </a:avLst>
          </a:prstGeom>
          <a:solidFill>
            <a:srgbClr val="77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 descr="Shuffled text"/>
          <p:cNvSpPr txBox="1"/>
          <p:nvPr/>
        </p:nvSpPr>
        <p:spPr>
          <a:xfrm>
            <a:off x="795528" y="4608576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Shuffled text</a:t>
            </a:r>
          </a:p>
        </p:txBody>
      </p:sp>
      <p:sp>
        <p:nvSpPr>
          <p:cNvPr id="19" name="TextBox 18" descr="2/30"/>
          <p:cNvSpPr txBox="1"/>
          <p:nvPr/>
        </p:nvSpPr>
        <p:spPr>
          <a:xfrm>
            <a:off x="2990088" y="4608576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AFB9C0"/>
                </a:solidFill>
                <a:latin typeface="Arial"/>
              </a:defRPr>
            </a:pPr>
            <a:r>
              <a:t>2/30</a:t>
            </a:r>
          </a:p>
        </p:txBody>
      </p:sp>
      <p:sp>
        <p:nvSpPr>
          <p:cNvPr id="20" name="Rounded Rectangle 19" descr=""/>
          <p:cNvSpPr/>
          <p:nvPr/>
        </p:nvSpPr>
        <p:spPr>
          <a:xfrm>
            <a:off x="795528" y="4974336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 descr=""/>
          <p:cNvSpPr/>
          <p:nvPr/>
        </p:nvSpPr>
        <p:spPr>
          <a:xfrm>
            <a:off x="795528" y="4974336"/>
            <a:ext cx="198120" cy="201168"/>
          </a:xfrm>
          <a:prstGeom prst="roundRect">
            <a:avLst>
              <a:gd name="adj" fmla="val 13000"/>
            </a:avLst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 descr=""/>
          <p:cNvSpPr/>
          <p:nvPr/>
        </p:nvSpPr>
        <p:spPr>
          <a:xfrm>
            <a:off x="4453128" y="2331720"/>
            <a:ext cx="3493008" cy="32826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 descr="TURN"/>
          <p:cNvSpPr txBox="1"/>
          <p:nvPr/>
        </p:nvSpPr>
        <p:spPr>
          <a:xfrm>
            <a:off x="4636008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42A3B"/>
                </a:solidFill>
                <a:latin typeface="Arial"/>
              </a:defRPr>
            </a:pPr>
            <a:r>
              <a:t>TURN</a:t>
            </a:r>
          </a:p>
        </p:txBody>
      </p:sp>
      <p:sp>
        <p:nvSpPr>
          <p:cNvPr id="24" name="TextBox 23" descr="Graph + parser"/>
          <p:cNvSpPr txBox="1"/>
          <p:nvPr/>
        </p:nvSpPr>
        <p:spPr>
          <a:xfrm>
            <a:off x="4636008" y="3200400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Graph + parser</a:t>
            </a:r>
          </a:p>
        </p:txBody>
      </p:sp>
      <p:sp>
        <p:nvSpPr>
          <p:cNvPr id="25" name="TextBox 24" descr="17/45"/>
          <p:cNvSpPr txBox="1"/>
          <p:nvPr/>
        </p:nvSpPr>
        <p:spPr>
          <a:xfrm>
            <a:off x="6830568" y="3200400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67F7C"/>
                </a:solidFill>
                <a:latin typeface="Arial"/>
              </a:defRPr>
            </a:pPr>
            <a:r>
              <a:t>17/45</a:t>
            </a:r>
          </a:p>
        </p:txBody>
      </p:sp>
      <p:sp>
        <p:nvSpPr>
          <p:cNvPr id="26" name="Rounded Rectangle 25" descr=""/>
          <p:cNvSpPr/>
          <p:nvPr/>
        </p:nvSpPr>
        <p:spPr>
          <a:xfrm>
            <a:off x="4636008" y="3566160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 descr=""/>
          <p:cNvSpPr/>
          <p:nvPr/>
        </p:nvSpPr>
        <p:spPr>
          <a:xfrm>
            <a:off x="4636008" y="3566160"/>
            <a:ext cx="1122680" cy="201168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 descr="Head"/>
          <p:cNvSpPr txBox="1"/>
          <p:nvPr/>
        </p:nvSpPr>
        <p:spPr>
          <a:xfrm>
            <a:off x="4636008" y="3904487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29" name="TextBox 28" descr="3/45"/>
          <p:cNvSpPr txBox="1"/>
          <p:nvPr/>
        </p:nvSpPr>
        <p:spPr>
          <a:xfrm>
            <a:off x="6830568" y="3904487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7629D"/>
                </a:solidFill>
                <a:latin typeface="Arial"/>
              </a:defRPr>
            </a:pPr>
            <a:r>
              <a:t>3/45</a:t>
            </a:r>
          </a:p>
        </p:txBody>
      </p:sp>
      <p:sp>
        <p:nvSpPr>
          <p:cNvPr id="30" name="Rounded Rectangle 29" descr=""/>
          <p:cNvSpPr/>
          <p:nvPr/>
        </p:nvSpPr>
        <p:spPr>
          <a:xfrm>
            <a:off x="4636008" y="4270248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 descr=""/>
          <p:cNvSpPr/>
          <p:nvPr/>
        </p:nvSpPr>
        <p:spPr>
          <a:xfrm>
            <a:off x="4636008" y="4270248"/>
            <a:ext cx="198120" cy="201168"/>
          </a:xfrm>
          <a:prstGeom prst="roundRect">
            <a:avLst>
              <a:gd name="adj" fmla="val 13000"/>
            </a:avLst>
          </a:prstGeom>
          <a:solidFill>
            <a:srgbClr val="77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 descr="Shuffled text"/>
          <p:cNvSpPr txBox="1"/>
          <p:nvPr/>
        </p:nvSpPr>
        <p:spPr>
          <a:xfrm>
            <a:off x="4636008" y="4608576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Shuffled text</a:t>
            </a:r>
          </a:p>
        </p:txBody>
      </p:sp>
      <p:sp>
        <p:nvSpPr>
          <p:cNvPr id="33" name="TextBox 32" descr="3/45"/>
          <p:cNvSpPr txBox="1"/>
          <p:nvPr/>
        </p:nvSpPr>
        <p:spPr>
          <a:xfrm>
            <a:off x="6830568" y="4608576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AFB9C0"/>
                </a:solidFill>
                <a:latin typeface="Arial"/>
              </a:defRPr>
            </a:pPr>
            <a:r>
              <a:t>3/45</a:t>
            </a:r>
          </a:p>
        </p:txBody>
      </p:sp>
      <p:sp>
        <p:nvSpPr>
          <p:cNvPr id="34" name="Rounded Rectangle 33" descr=""/>
          <p:cNvSpPr/>
          <p:nvPr/>
        </p:nvSpPr>
        <p:spPr>
          <a:xfrm>
            <a:off x="4636008" y="4974336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 descr=""/>
          <p:cNvSpPr/>
          <p:nvPr/>
        </p:nvSpPr>
        <p:spPr>
          <a:xfrm>
            <a:off x="4636008" y="4974336"/>
            <a:ext cx="198120" cy="201168"/>
          </a:xfrm>
          <a:prstGeom prst="roundRect">
            <a:avLst>
              <a:gd name="adj" fmla="val 13000"/>
            </a:avLst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 descr=""/>
          <p:cNvSpPr/>
          <p:nvPr/>
        </p:nvSpPr>
        <p:spPr>
          <a:xfrm>
            <a:off x="8293608" y="2331720"/>
            <a:ext cx="3493008" cy="32826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 descr="PUSH"/>
          <p:cNvSpPr txBox="1"/>
          <p:nvPr/>
        </p:nvSpPr>
        <p:spPr>
          <a:xfrm>
            <a:off x="8476488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42A3B"/>
                </a:solidFill>
                <a:latin typeface="Arial"/>
              </a:defRPr>
            </a:pPr>
            <a:r>
              <a:t>PUSH</a:t>
            </a:r>
          </a:p>
        </p:txBody>
      </p:sp>
      <p:sp>
        <p:nvSpPr>
          <p:cNvPr id="38" name="TextBox 37" descr="Graph + parser"/>
          <p:cNvSpPr txBox="1"/>
          <p:nvPr/>
        </p:nvSpPr>
        <p:spPr>
          <a:xfrm>
            <a:off x="8476488" y="3200400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Graph + parser</a:t>
            </a:r>
          </a:p>
        </p:txBody>
      </p:sp>
      <p:sp>
        <p:nvSpPr>
          <p:cNvPr id="39" name="TextBox 38" descr="14/36"/>
          <p:cNvSpPr txBox="1"/>
          <p:nvPr/>
        </p:nvSpPr>
        <p:spPr>
          <a:xfrm>
            <a:off x="10671048" y="3200400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67F7C"/>
                </a:solidFill>
                <a:latin typeface="Arial"/>
              </a:defRPr>
            </a:pPr>
            <a:r>
              <a:t>14/36</a:t>
            </a:r>
          </a:p>
        </p:txBody>
      </p:sp>
      <p:sp>
        <p:nvSpPr>
          <p:cNvPr id="40" name="Rounded Rectangle 39" descr=""/>
          <p:cNvSpPr/>
          <p:nvPr/>
        </p:nvSpPr>
        <p:spPr>
          <a:xfrm>
            <a:off x="8476488" y="3566160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 descr=""/>
          <p:cNvSpPr/>
          <p:nvPr/>
        </p:nvSpPr>
        <p:spPr>
          <a:xfrm>
            <a:off x="8476488" y="3566160"/>
            <a:ext cx="1155700" cy="201168"/>
          </a:xfrm>
          <a:prstGeom prst="roundRect">
            <a:avLst>
              <a:gd name="adj" fmla="val 13000"/>
            </a:avLst>
          </a:prstGeom>
          <a:solidFill>
            <a:srgbClr val="06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 descr="Head"/>
          <p:cNvSpPr txBox="1"/>
          <p:nvPr/>
        </p:nvSpPr>
        <p:spPr>
          <a:xfrm>
            <a:off x="8476488" y="3904487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43" name="TextBox 42" descr="4/36"/>
          <p:cNvSpPr txBox="1"/>
          <p:nvPr/>
        </p:nvSpPr>
        <p:spPr>
          <a:xfrm>
            <a:off x="10671048" y="3904487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7629D"/>
                </a:solidFill>
                <a:latin typeface="Arial"/>
              </a:defRPr>
            </a:pPr>
            <a:r>
              <a:t>4/36</a:t>
            </a:r>
          </a:p>
        </p:txBody>
      </p:sp>
      <p:sp>
        <p:nvSpPr>
          <p:cNvPr id="44" name="Rounded Rectangle 43" descr=""/>
          <p:cNvSpPr/>
          <p:nvPr/>
        </p:nvSpPr>
        <p:spPr>
          <a:xfrm>
            <a:off x="8476488" y="4270248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 descr=""/>
          <p:cNvSpPr/>
          <p:nvPr/>
        </p:nvSpPr>
        <p:spPr>
          <a:xfrm>
            <a:off x="8476488" y="4270248"/>
            <a:ext cx="330200" cy="201168"/>
          </a:xfrm>
          <a:prstGeom prst="roundRect">
            <a:avLst>
              <a:gd name="adj" fmla="val 13000"/>
            </a:avLst>
          </a:prstGeom>
          <a:solidFill>
            <a:srgbClr val="776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 descr="Shuffled text"/>
          <p:cNvSpPr txBox="1"/>
          <p:nvPr/>
        </p:nvSpPr>
        <p:spPr>
          <a:xfrm>
            <a:off x="8476488" y="4608576"/>
            <a:ext cx="201168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1717B"/>
                </a:solidFill>
                <a:latin typeface="Arial"/>
              </a:defRPr>
            </a:pPr>
            <a:r>
              <a:t>Shuffled text</a:t>
            </a:r>
          </a:p>
        </p:txBody>
      </p:sp>
      <p:sp>
        <p:nvSpPr>
          <p:cNvPr id="47" name="TextBox 46" descr="5/36"/>
          <p:cNvSpPr txBox="1"/>
          <p:nvPr/>
        </p:nvSpPr>
        <p:spPr>
          <a:xfrm>
            <a:off x="10671048" y="4608576"/>
            <a:ext cx="9144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AFB9C0"/>
                </a:solidFill>
                <a:latin typeface="Arial"/>
              </a:defRPr>
            </a:pPr>
            <a:r>
              <a:t>5/36</a:t>
            </a:r>
          </a:p>
        </p:txBody>
      </p:sp>
      <p:sp>
        <p:nvSpPr>
          <p:cNvPr id="48" name="Rounded Rectangle 47" descr=""/>
          <p:cNvSpPr/>
          <p:nvPr/>
        </p:nvSpPr>
        <p:spPr>
          <a:xfrm>
            <a:off x="8476488" y="4974336"/>
            <a:ext cx="2971800" cy="201168"/>
          </a:xfrm>
          <a:prstGeom prst="roundRect">
            <a:avLst>
              <a:gd name="adj" fmla="val 13000"/>
            </a:avLst>
          </a:prstGeom>
          <a:solidFill>
            <a:srgbClr val="E9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 descr=""/>
          <p:cNvSpPr/>
          <p:nvPr/>
        </p:nvSpPr>
        <p:spPr>
          <a:xfrm>
            <a:off x="8476488" y="4974336"/>
            <a:ext cx="412750" cy="201168"/>
          </a:xfrm>
          <a:prstGeom prst="roundRect">
            <a:avLst>
              <a:gd name="adj" fmla="val 13000"/>
            </a:avLst>
          </a:prstGeom>
          <a:solidFill>
            <a:srgbClr val="AFB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 descr="These are successes on the saved command sets, not evidence of general language understanding."/>
          <p:cNvSpPr txBox="1"/>
          <p:nvPr/>
        </p:nvSpPr>
        <p:spPr>
          <a:xfrm>
            <a:off x="640080" y="5925312"/>
            <a:ext cx="10972800" cy="2926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1717B"/>
                </a:solidFill>
                <a:latin typeface="Arial"/>
              </a:defRPr>
            </a:pPr>
            <a:r>
              <a:t>These are successes on the saved command sets, not evidence of general language understanding.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BACKUP C · A MEASURED EXAMPLE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BACKUP C · A MEASURED EXAMPLE</a:t>
            </a:r>
          </a:p>
        </p:txBody>
      </p:sp>
      <p:sp>
        <p:nvSpPr>
          <p:cNvPr id="3" name="TextBox 2" descr="A successful quarter-turn can miss the in-place gate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A successful quarter-turn can miss the in-place gate.</a:t>
            </a:r>
          </a:p>
        </p:txBody>
      </p:sp>
      <p:sp>
        <p:nvSpPr>
          <p:cNvPr id="4" name="TextBox 3" descr="Seed 1 · clockwise turn template · breadcrumbs · requested change: +90°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Seed 1 · clockwise turn template · breadcrumbs · requested change: +90°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14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 descr="START"/>
          <p:cNvSpPr txBox="1"/>
          <p:nvPr/>
        </p:nvSpPr>
        <p:spPr>
          <a:xfrm>
            <a:off x="749808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1717B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TextBox 8" descr="RECORDED END"/>
          <p:cNvSpPr txBox="1"/>
          <p:nvPr/>
        </p:nvSpPr>
        <p:spPr>
          <a:xfrm>
            <a:off x="416052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1717B"/>
                </a:solidFill>
                <a:latin typeface="Arial"/>
              </a:defRPr>
            </a:pPr>
            <a:r>
              <a:t>RECORDED END</a:t>
            </a:r>
          </a:p>
        </p:txBody>
      </p:sp>
      <p:pic>
        <p:nvPicPr>
          <p:cNvPr id="10" name="Picture 9" descr="turn_seed1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97480"/>
            <a:ext cx="2834640" cy="2834640"/>
          </a:xfrm>
          <a:prstGeom prst="rect">
            <a:avLst/>
          </a:prstGeom>
        </p:spPr>
      </p:pic>
      <p:pic>
        <p:nvPicPr>
          <p:cNvPr id="11" name="Picture 10" descr="turn_seed1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2697480"/>
            <a:ext cx="2834640" cy="283464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3639312" y="4096512"/>
            <a:ext cx="301751" cy="0"/>
          </a:xfrm>
          <a:prstGeom prst="line">
            <a:avLst/>
          </a:prstGeom>
          <a:ln w="38100">
            <a:solidFill>
              <a:srgbClr val="067F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 descr="77.2°"/>
          <p:cNvSpPr txBox="1"/>
          <p:nvPr/>
        </p:nvSpPr>
        <p:spPr>
          <a:xfrm>
            <a:off x="7406640" y="2697480"/>
            <a:ext cx="4206240" cy="5943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067F7C"/>
                </a:solidFill>
                <a:latin typeface="Arial"/>
              </a:defRPr>
            </a:pPr>
            <a:r>
              <a:t>77.2°</a:t>
            </a:r>
          </a:p>
        </p:txBody>
      </p:sp>
      <p:sp>
        <p:nvSpPr>
          <p:cNvPr id="14" name="TextBox 13" descr="actual clockwise turn"/>
          <p:cNvSpPr txBox="1"/>
          <p:nvPr/>
        </p:nvSpPr>
        <p:spPr>
          <a:xfrm>
            <a:off x="7406640" y="3337560"/>
            <a:ext cx="4206240" cy="39319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42A3B"/>
                </a:solidFill>
                <a:latin typeface="Arial"/>
              </a:defRPr>
            </a:pPr>
            <a:r>
              <a:t>actual clockwise turn</a:t>
            </a:r>
          </a:p>
        </p:txBody>
      </p:sp>
      <p:sp>
        <p:nvSpPr>
          <p:cNvPr id="15" name="TextBox 14" descr="22.5 px"/>
          <p:cNvSpPr txBox="1"/>
          <p:nvPr/>
        </p:nvSpPr>
        <p:spPr>
          <a:xfrm>
            <a:off x="7406640" y="4023360"/>
            <a:ext cx="4206240" cy="5943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B96643"/>
                </a:solidFill>
                <a:latin typeface="Arial"/>
              </a:defRPr>
            </a:pPr>
            <a:r>
              <a:t>22.5 px</a:t>
            </a:r>
          </a:p>
        </p:txBody>
      </p:sp>
      <p:sp>
        <p:nvSpPr>
          <p:cNvPr id="16" name="TextBox 15" descr="block drift&#10;passes &lt;40 px, fails &lt;15 px"/>
          <p:cNvSpPr txBox="1"/>
          <p:nvPr/>
        </p:nvSpPr>
        <p:spPr>
          <a:xfrm>
            <a:off x="7406640" y="4663440"/>
            <a:ext cx="4206240" cy="5943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42A3B"/>
                </a:solidFill>
                <a:latin typeface="Arial"/>
              </a:defRPr>
            </a:pPr>
            <a:r>
              <a:t>block drift</a:t>
            </a:r>
          </a:p>
          <a:p>
            <a:pPr>
              <a:spcAft>
                <a:spcPts val="600"/>
              </a:spcAft>
              <a:defRPr sz="1900" b="0">
                <a:solidFill>
                  <a:srgbClr val="142A3B"/>
                </a:solidFill>
                <a:latin typeface="Arial"/>
              </a:defRPr>
            </a:pPr>
            <a:r>
              <a:t>passes &lt;40 px, fails &lt;15 px</a:t>
            </a:r>
          </a:p>
        </p:txBody>
      </p:sp>
      <p:sp>
        <p:nvSpPr>
          <p:cNvPr id="17" name="TextBox 16" descr="Reconstructed from logged block poses; pusher omitted. Green T = requested goal. No trajectory was saved."/>
          <p:cNvSpPr txBox="1"/>
          <p:nvPr/>
        </p:nvSpPr>
        <p:spPr>
          <a:xfrm>
            <a:off x="685800" y="5888736"/>
            <a:ext cx="10881360" cy="31089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Reconstructed from logged block poses; pusher omitted. Green T = requested goal. No trajectory was saved.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BACKUP D · THE DEMO GRAPH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BACKUP D · THE DEMO GRAPH</a:t>
            </a:r>
          </a:p>
        </p:txBody>
      </p:sp>
      <p:sp>
        <p:nvSpPr>
          <p:cNvPr id="3" name="TextBox 2" descr="The graph covers demo goals, not random live goals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The graph covers demo goals, not random live goals.</a:t>
            </a:r>
          </a:p>
        </p:txBody>
      </p:sp>
      <p:sp>
        <p:nvSpPr>
          <p:cNvPr id="4" name="TextBox 3" descr="Training split only. One node every 5 demo steps; nearby states from different demos are linked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Training split only. One node every 5 demo steps; nearby states from different demos are linked.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15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TextBox 7" descr="427,396"/>
          <p:cNvSpPr txBox="1"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067F7C"/>
                </a:solidFill>
                <a:latin typeface="Arial"/>
              </a:defRPr>
            </a:pPr>
            <a:r>
              <a:t>427,396</a:t>
            </a:r>
          </a:p>
        </p:txBody>
      </p:sp>
      <p:sp>
        <p:nvSpPr>
          <p:cNvPr id="9" name="TextBox 8" descr="demo states (nodes)"/>
          <p:cNvSpPr txBox="1"/>
          <p:nvPr/>
        </p:nvSpPr>
        <p:spPr>
          <a:xfrm>
            <a:off x="548640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demo states (nodes)</a:t>
            </a:r>
          </a:p>
        </p:txBody>
      </p:sp>
      <p:sp>
        <p:nvSpPr>
          <p:cNvPr id="10" name="TextBox 9" descr="410,579"/>
          <p:cNvSpPr txBox="1"/>
          <p:nvPr/>
        </p:nvSpPr>
        <p:spPr>
          <a:xfrm>
            <a:off x="4325112" y="2194560"/>
            <a:ext cx="356616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067F7C"/>
                </a:solidFill>
                <a:latin typeface="Arial"/>
              </a:defRPr>
            </a:pPr>
            <a:r>
              <a:t>410,579</a:t>
            </a:r>
          </a:p>
        </p:txBody>
      </p:sp>
      <p:sp>
        <p:nvSpPr>
          <p:cNvPr id="11" name="TextBox 10" descr="“next frame” links"/>
          <p:cNvSpPr txBox="1"/>
          <p:nvPr/>
        </p:nvSpPr>
        <p:spPr>
          <a:xfrm>
            <a:off x="4325112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“next frame” links</a:t>
            </a:r>
          </a:p>
        </p:txBody>
      </p:sp>
      <p:sp>
        <p:nvSpPr>
          <p:cNvPr id="12" name="TextBox 11" descr="2,852,207"/>
          <p:cNvSpPr txBox="1"/>
          <p:nvPr/>
        </p:nvSpPr>
        <p:spPr>
          <a:xfrm>
            <a:off x="8101583" y="2194560"/>
            <a:ext cx="3566160" cy="6400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3567A0"/>
                </a:solidFill>
                <a:latin typeface="Arial"/>
              </a:defRPr>
            </a:pPr>
            <a:r>
              <a:t>2,852,207</a:t>
            </a:r>
          </a:p>
        </p:txBody>
      </p:sp>
      <p:sp>
        <p:nvSpPr>
          <p:cNvPr id="13" name="TextBox 12" descr="links between demos"/>
          <p:cNvSpPr txBox="1"/>
          <p:nvPr/>
        </p:nvSpPr>
        <p:spPr>
          <a:xfrm>
            <a:off x="8101583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links between demos</a:t>
            </a:r>
          </a:p>
        </p:txBody>
      </p:sp>
      <p:sp>
        <p:nvSpPr>
          <p:cNvPr id="14" name="Rounded Rectangle 13" descr=""/>
          <p:cNvSpPr/>
          <p:nvPr/>
        </p:nvSpPr>
        <p:spPr>
          <a:xfrm>
            <a:off x="548640" y="3520440"/>
            <a:ext cx="3520440" cy="2148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 descr="DEMO GOALS, +50 STEPS"/>
          <p:cNvSpPr txBox="1"/>
          <p:nvPr/>
        </p:nvSpPr>
        <p:spPr>
          <a:xfrm>
            <a:off x="749808" y="3685032"/>
            <a:ext cx="310896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DEMO GOALS, +50 STEPS</a:t>
            </a:r>
          </a:p>
        </p:txBody>
      </p:sp>
      <p:sp>
        <p:nvSpPr>
          <p:cNvPr id="16" name="TextBox 15" descr="50/50"/>
          <p:cNvSpPr txBox="1"/>
          <p:nvPr/>
        </p:nvSpPr>
        <p:spPr>
          <a:xfrm>
            <a:off x="749808" y="4041648"/>
            <a:ext cx="3108960" cy="6858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067F7C"/>
                </a:solidFill>
                <a:latin typeface="Arial"/>
              </a:defRPr>
            </a:pPr>
            <a:r>
              <a:t>50/50</a:t>
            </a:r>
          </a:p>
        </p:txBody>
      </p:sp>
      <p:sp>
        <p:nvSpPr>
          <p:cNvPr id="17" name="TextBox 16" descr="have a route · median 0.5 demo switches&#10;start lies 9 state units from a demo state"/>
          <p:cNvSpPr txBox="1"/>
          <p:nvPr/>
        </p:nvSpPr>
        <p:spPr>
          <a:xfrm>
            <a:off x="749808" y="4800600"/>
            <a:ext cx="3154680" cy="7772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have a route · median 0.5 demo switches</a:t>
            </a:r>
          </a:p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start lies 9 state units from a demo state</a:t>
            </a:r>
          </a:p>
        </p:txBody>
      </p:sp>
      <p:sp>
        <p:nvSpPr>
          <p:cNvPr id="18" name="Rounded Rectangle 17" descr=""/>
          <p:cNvSpPr/>
          <p:nvPr/>
        </p:nvSpPr>
        <p:spPr>
          <a:xfrm>
            <a:off x="4325112" y="3520440"/>
            <a:ext cx="3520440" cy="2148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 descr="WORD COMMANDS"/>
          <p:cNvSpPr txBox="1"/>
          <p:nvPr/>
        </p:nvSpPr>
        <p:spPr>
          <a:xfrm>
            <a:off x="4526279" y="3685032"/>
            <a:ext cx="310896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WORD COMMANDS</a:t>
            </a:r>
          </a:p>
        </p:txBody>
      </p:sp>
      <p:sp>
        <p:nvSpPr>
          <p:cNvPr id="20" name="TextBox 19" descr="56/64"/>
          <p:cNvSpPr txBox="1"/>
          <p:nvPr/>
        </p:nvSpPr>
        <p:spPr>
          <a:xfrm>
            <a:off x="4526279" y="4041648"/>
            <a:ext cx="3108960" cy="6858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067F7C"/>
                </a:solidFill>
                <a:latin typeface="Arial"/>
              </a:defRPr>
            </a:pPr>
            <a:r>
              <a:t>56/64</a:t>
            </a:r>
          </a:p>
        </p:txBody>
      </p:sp>
      <p:sp>
        <p:nvSpPr>
          <p:cNvPr id="21" name="TextBox 20" descr="start/command pairs have a route&#10;every command has matching demo states"/>
          <p:cNvSpPr txBox="1"/>
          <p:nvPr/>
        </p:nvSpPr>
        <p:spPr>
          <a:xfrm>
            <a:off x="4526279" y="4800600"/>
            <a:ext cx="3154680" cy="7772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start/command pairs have a route</a:t>
            </a:r>
          </a:p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every command has matching demo states</a:t>
            </a:r>
          </a:p>
        </p:txBody>
      </p:sp>
      <p:sp>
        <p:nvSpPr>
          <p:cNvPr id="22" name="Rounded Rectangle 21" descr=""/>
          <p:cNvSpPr/>
          <p:nvPr/>
        </p:nvSpPr>
        <p:spPr>
          <a:xfrm>
            <a:off x="8101583" y="3520440"/>
            <a:ext cx="3520440" cy="2148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D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 descr="RANDOM LIVE GOALS"/>
          <p:cNvSpPr txBox="1"/>
          <p:nvPr/>
        </p:nvSpPr>
        <p:spPr>
          <a:xfrm>
            <a:off x="8302752" y="3685032"/>
            <a:ext cx="3108960" cy="3200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1717B"/>
                </a:solidFill>
                <a:latin typeface="Arial"/>
              </a:defRPr>
            </a:pPr>
            <a:r>
              <a:t>RANDOM LIVE GOALS</a:t>
            </a:r>
          </a:p>
        </p:txBody>
      </p:sp>
      <p:sp>
        <p:nvSpPr>
          <p:cNvPr id="24" name="TextBox 23" descr="13/20"/>
          <p:cNvSpPr txBox="1"/>
          <p:nvPr/>
        </p:nvSpPr>
        <p:spPr>
          <a:xfrm>
            <a:off x="8302752" y="4041648"/>
            <a:ext cx="3108960" cy="6858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B96643"/>
                </a:solidFill>
                <a:latin typeface="Arial"/>
              </a:defRPr>
            </a:pPr>
            <a:r>
              <a:t>13/20</a:t>
            </a:r>
          </a:p>
        </p:txBody>
      </p:sp>
      <p:sp>
        <p:nvSpPr>
          <p:cNvPr id="25" name="TextBox 24" descr="have a route, but start and goal lie&#10;37 and 39 state units from any demo state"/>
          <p:cNvSpPr txBox="1"/>
          <p:nvPr/>
        </p:nvSpPr>
        <p:spPr>
          <a:xfrm>
            <a:off x="8302752" y="4800600"/>
            <a:ext cx="3154680" cy="77724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have a route, but start and goal lie</a:t>
            </a:r>
          </a:p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37 and 39 state units from any demo state</a:t>
            </a:r>
          </a:p>
        </p:txBody>
      </p:sp>
      <p:sp>
        <p:nvSpPr>
          <p:cNvPr id="26" name="TextBox 25" descr="In-place turns do occur in the demos: 8,040 nodes in 1,691 of 16,817 episodes. State units: block/pusher px, angle at 60 per radian."/>
          <p:cNvSpPr txBox="1"/>
          <p:nvPr/>
        </p:nvSpPr>
        <p:spPr>
          <a:xfrm>
            <a:off x="594360" y="5897880"/>
            <a:ext cx="10972800" cy="2926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In-place turns do occur in the demos: 8,040 nodes in 1,691 of 16,817 episodes. State units: block/pusher px, angle at 60 per radian.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BACKUP E · EVERY CHECK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BACKUP E · EVERY CHECK</a:t>
            </a:r>
          </a:p>
        </p:txBody>
      </p:sp>
      <p:sp>
        <p:nvSpPr>
          <p:cNvPr id="3" name="TextBox 2" descr="Each claim and kill line was committed before its scored run.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Each claim and kill line was committed before its scored run.</a:t>
            </a:r>
          </a:p>
        </p:txBody>
      </p:sp>
      <p:sp>
        <p:nvSpPr>
          <p:cNvPr id="4" name="TextBox 3" descr="Verdict: holds = claim met; between = claim missed, kill line not reached. Budget 300 on all scored runs."/>
          <p:cNvSpPr txBox="1"/>
          <p:nvPr/>
        </p:nvSpPr>
        <p:spPr>
          <a:xfrm>
            <a:off x="521207" y="1572768"/>
            <a:ext cx="10972800" cy="493776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1717B"/>
                </a:solidFill>
                <a:latin typeface="Arial"/>
              </a:defRPr>
            </a:pPr>
            <a:r>
              <a:t>Verdict: holds = claim met; between = claim missed, kill line not reached. Budget 300 on all scored runs.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7" name="TextBox 6" descr="16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64239" cy="3625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103120"/>
                <a:gridCol w="2011680"/>
                <a:gridCol w="1920240"/>
                <a:gridCol w="1280160"/>
              </a:tblGrid>
              <a:tr h="2788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T="25400" marB="25400" marL="101600" anchor="ctr"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Claim (frozen first)</a:t>
                      </a:r>
                    </a:p>
                  </a:txBody>
                  <a:tcPr marT="25400" marB="25400" marL="101600" anchor="ctr"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Kill line</a:t>
                      </a:r>
                    </a:p>
                  </a:txBody>
                  <a:tcPr marT="25400" marB="25400" marL="101600" anchor="ctr"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T="25400" marB="25400" marL="101600" anchor="ctr"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Verdict</a:t>
                      </a:r>
                    </a:p>
                  </a:txBody>
                  <a:tcPr marT="25400" marB="25400" marL="101600" anchor="ctr">
                    <a:solidFill>
                      <a:srgbClr val="142A3B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0 · Setup reproduces the 4090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≈ 45/50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40/50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47/50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1a · Routes exist, demo goals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35/50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&lt; 35/50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50/50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2b · Breadcrumbs, +50 steps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flat + 10 pp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flat + 2 pp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68% vs 48%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2c · Breadcrumbs, +100 steps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gap grows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crumbs ≤ flat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58% vs 20%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2d · Random live goals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4/20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flat + 1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3/20 vs 0/20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6643"/>
                          </a:solidFill>
                          <a:latin typeface="Arial"/>
                        </a:defRPr>
                      </a:pPr>
                      <a:r>
                        <a:t>between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3b · Word templates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flat + 10 pp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flat + 1 ep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34 vs 18 of 64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3c · Turns (40 px drift allowed)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5/20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2/20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8/20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L1 · Sentence parsing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90%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75%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84.2%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6643"/>
                          </a:solidFill>
                          <a:latin typeface="Arial"/>
                        </a:defRPr>
                      </a:pPr>
                      <a:r>
                        <a:t>between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L2 · Parsed vs gold, end to end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gold − 5 pp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gold − 15 pp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−5.4 pp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6643"/>
                          </a:solidFill>
                          <a:latin typeface="Arial"/>
                        </a:defRPr>
                      </a:pPr>
                      <a:r>
                        <a:t>between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S1 · Head, offline error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0.7× copy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0.9× copy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0.67×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7F7C"/>
                          </a:solidFill>
                          <a:latin typeface="Arial"/>
                        </a:defRPr>
                      </a:pPr>
                      <a:r>
                        <a:t>holds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S2 · Head, end to end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≥ 34/111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11/111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18/111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6643"/>
                          </a:solidFill>
                          <a:latin typeface="Arial"/>
                        </a:defRPr>
                      </a:pPr>
                      <a:r>
                        <a:t>between</a:t>
                      </a:r>
                    </a:p>
                  </a:txBody>
                  <a:tcPr marT="25400" marB="25400" marL="1016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S3 · Words matter for the head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shuffled + 10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≤ shuffled + 3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42A3B"/>
                          </a:solidFill>
                          <a:latin typeface="Arial"/>
                        </a:defRPr>
                      </a:pPr>
                      <a:r>
                        <a:t>+8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6643"/>
                          </a:solidFill>
                          <a:latin typeface="Arial"/>
                        </a:defRPr>
                      </a:pPr>
                      <a:r>
                        <a:t>between</a:t>
                      </a:r>
                    </a:p>
                  </a:txBody>
                  <a:tcPr marT="25400" marB="25400" marL="101600" anchor="ctr">
                    <a:solidFill>
                      <a:srgbClr val="E9ED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 descr="REFERENCES"/>
          <p:cNvSpPr txBox="1"/>
          <p:nvPr/>
        </p:nvSpPr>
        <p:spPr>
          <a:xfrm>
            <a:off x="502920" y="274320"/>
            <a:ext cx="10881360" cy="27432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7F7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 descr="Sources"/>
          <p:cNvSpPr txBox="1"/>
          <p:nvPr/>
        </p:nvSpPr>
        <p:spPr>
          <a:xfrm>
            <a:off x="502920" y="749808"/>
            <a:ext cx="11064240" cy="91440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42A3B"/>
                </a:solidFill>
                <a:latin typeface="Arial"/>
              </a:defRPr>
            </a:pPr>
            <a:r>
              <a:t>Sources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46520"/>
            <a:ext cx="11155680" cy="0"/>
          </a:xfrm>
          <a:prstGeom prst="line">
            <a:avLst/>
          </a:prstGeom>
          <a:ln w="8890">
            <a:solidFill>
              <a:srgbClr val="DDE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 descr="FROZEN LeWM  /  PUSH-T  /  SKOLTECH"/>
          <p:cNvSpPr txBox="1"/>
          <p:nvPr/>
        </p:nvSpPr>
        <p:spPr>
          <a:xfrm>
            <a:off x="521207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1717B"/>
                </a:solidFill>
                <a:latin typeface="Arial"/>
              </a:defRPr>
            </a:pPr>
            <a:r>
              <a:t>FROZEN LeWM  /  PUSH-T  /  SKOLTECH</a:t>
            </a:r>
          </a:p>
        </p:txBody>
      </p:sp>
      <p:sp>
        <p:nvSpPr>
          <p:cNvPr id="6" name="TextBox 5" descr="17"/>
          <p:cNvSpPr txBox="1"/>
          <p:nvPr/>
        </p:nvSpPr>
        <p:spPr>
          <a:xfrm>
            <a:off x="10972800" y="6501384"/>
            <a:ext cx="685800" cy="210312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1717B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TextBox 6" descr="[1]"/>
          <p:cNvSpPr txBox="1"/>
          <p:nvPr/>
        </p:nvSpPr>
        <p:spPr>
          <a:xfrm>
            <a:off x="548640" y="1645920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[1]</a:t>
            </a:r>
          </a:p>
        </p:txBody>
      </p:sp>
      <p:sp>
        <p:nvSpPr>
          <p:cNvPr id="8" name="TextBox 7" descr="LeCun, Y. (2022). A Path Towards Autonomous Machine Intelligence. OpenReview, v0.9.2."/>
          <p:cNvSpPr txBox="1"/>
          <p:nvPr/>
        </p:nvSpPr>
        <p:spPr>
          <a:xfrm>
            <a:off x="105156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LeCun, Y. (2022). A Path Towards Autonomous Machine Intelligence. OpenReview, v0.9.2.</a:t>
            </a:r>
          </a:p>
        </p:txBody>
      </p:sp>
      <p:sp>
        <p:nvSpPr>
          <p:cNvPr id="9" name="TextBox 8" descr="[2]"/>
          <p:cNvSpPr txBox="1"/>
          <p:nvPr/>
        </p:nvSpPr>
        <p:spPr>
          <a:xfrm>
            <a:off x="548640" y="2048256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[2]</a:t>
            </a:r>
          </a:p>
        </p:txBody>
      </p:sp>
      <p:sp>
        <p:nvSpPr>
          <p:cNvPr id="10" name="TextBox 9" descr="Assran, M., et al. (2023). Self-Supervised Learning from Images with a Joint-Embedding Predictive Architecture (I-JEPA). CVPR."/>
          <p:cNvSpPr txBox="1"/>
          <p:nvPr/>
        </p:nvSpPr>
        <p:spPr>
          <a:xfrm>
            <a:off x="1051560" y="2048256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Assran, M., et al. (2023). Self-Supervised Learning from Images with a Joint-Embedding Predictive Architecture (I-JEPA). CVPR.</a:t>
            </a:r>
          </a:p>
        </p:txBody>
      </p:sp>
      <p:sp>
        <p:nvSpPr>
          <p:cNvPr id="11" name="TextBox 10" descr="[3]"/>
          <p:cNvSpPr txBox="1"/>
          <p:nvPr/>
        </p:nvSpPr>
        <p:spPr>
          <a:xfrm>
            <a:off x="548640" y="2450592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[3]</a:t>
            </a:r>
          </a:p>
        </p:txBody>
      </p:sp>
      <p:sp>
        <p:nvSpPr>
          <p:cNvPr id="12" name="TextBox 11" descr="Maes, L., Le Lidec, Q., Scieur, D., LeCun, Y., Balestriero, R. (2026). LeWorldModel: Stable End-to-End Joint-Embedding Predictive Architecture from Pixels. arXiv:2603.19312."/>
          <p:cNvSpPr txBox="1"/>
          <p:nvPr/>
        </p:nvSpPr>
        <p:spPr>
          <a:xfrm>
            <a:off x="1051560" y="2450592"/>
            <a:ext cx="1051560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Maes, L., Le Lidec, Q., Scieur, D., LeCun, Y., Balestriero, R. (2026). LeWorldModel: Stable End-to-End Joint-Embedding Predictive Architecture from Pixels. arXiv:2603.19312.</a:t>
            </a:r>
          </a:p>
        </p:txBody>
      </p:sp>
      <p:sp>
        <p:nvSpPr>
          <p:cNvPr id="13" name="TextBox 12" descr="[4]"/>
          <p:cNvSpPr txBox="1"/>
          <p:nvPr/>
        </p:nvSpPr>
        <p:spPr>
          <a:xfrm>
            <a:off x="548640" y="3054096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[4]</a:t>
            </a:r>
          </a:p>
        </p:txBody>
      </p:sp>
      <p:sp>
        <p:nvSpPr>
          <p:cNvPr id="14" name="TextBox 13" descr="Caselli, Massafra, Punzo, Lo Sardo, Pantelidis, Bhethanabhotla (2026). Hi-LeWM. arXiv:2607.12547."/>
          <p:cNvSpPr txBox="1"/>
          <p:nvPr/>
        </p:nvSpPr>
        <p:spPr>
          <a:xfrm>
            <a:off x="1051560" y="3054096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Caselli, Massafra, Punzo, Lo Sardo, Pantelidis, Bhethanabhotla (2026). Hi-LeWM. arXiv:2607.12547.</a:t>
            </a:r>
          </a:p>
        </p:txBody>
      </p:sp>
      <p:sp>
        <p:nvSpPr>
          <p:cNvPr id="15" name="TextBox 14" descr="[5]"/>
          <p:cNvSpPr txBox="1"/>
          <p:nvPr/>
        </p:nvSpPr>
        <p:spPr>
          <a:xfrm>
            <a:off x="548640" y="3456432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[5]</a:t>
            </a:r>
          </a:p>
        </p:txBody>
      </p:sp>
      <p:sp>
        <p:nvSpPr>
          <p:cNvPr id="16" name="TextBox 15" descr="Florence, P., et al. (2021). Implicit Behavioral Cloning. CoRL. (Push-T task)"/>
          <p:cNvSpPr txBox="1"/>
          <p:nvPr/>
        </p:nvSpPr>
        <p:spPr>
          <a:xfrm>
            <a:off x="1051560" y="3456432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Florence, P., et al. (2021). Implicit Behavioral Cloning. CoRL. (Push-T task)</a:t>
            </a:r>
          </a:p>
        </p:txBody>
      </p:sp>
      <p:sp>
        <p:nvSpPr>
          <p:cNvPr id="17" name="TextBox 16" descr="[6]"/>
          <p:cNvSpPr txBox="1"/>
          <p:nvPr/>
        </p:nvSpPr>
        <p:spPr>
          <a:xfrm>
            <a:off x="548640" y="3858768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[6]</a:t>
            </a:r>
          </a:p>
        </p:txBody>
      </p:sp>
      <p:sp>
        <p:nvSpPr>
          <p:cNvPr id="18" name="TextBox 17" descr="Rubinstein, R. Y. (1999). The Cross-Entropy Method for Combinatorial and Continuous Optimization. Methodology and Computing in Applied Probability."/>
          <p:cNvSpPr txBox="1"/>
          <p:nvPr/>
        </p:nvSpPr>
        <p:spPr>
          <a:xfrm>
            <a:off x="1051560" y="3858768"/>
            <a:ext cx="10515600" cy="56692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Rubinstein, R. Y. (1999). The Cross-Entropy Method for Combinatorial and Continuous Optimization. Methodology and Computing in Applied Probability.</a:t>
            </a:r>
          </a:p>
        </p:txBody>
      </p:sp>
      <p:sp>
        <p:nvSpPr>
          <p:cNvPr id="19" name="TextBox 18" descr="[7]"/>
          <p:cNvSpPr txBox="1"/>
          <p:nvPr/>
        </p:nvSpPr>
        <p:spPr>
          <a:xfrm>
            <a:off x="548640" y="4462272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[7]</a:t>
            </a:r>
          </a:p>
        </p:txBody>
      </p:sp>
      <p:sp>
        <p:nvSpPr>
          <p:cNvPr id="20" name="TextBox 19" descr="Yang, A., et al. (2024). Qwen2 Technical Report. arXiv:2407.10671. Model used: Qwen2.5-1.5B-Instruct (Qwen Team, 2024)."/>
          <p:cNvSpPr txBox="1"/>
          <p:nvPr/>
        </p:nvSpPr>
        <p:spPr>
          <a:xfrm>
            <a:off x="1051560" y="4462272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Yang, A., et al. (2024). Qwen2 Technical Report. arXiv:2407.10671. Model used: Qwen2.5-1.5B-Instruct (Qwen Team, 2024).</a:t>
            </a:r>
          </a:p>
        </p:txBody>
      </p:sp>
      <p:sp>
        <p:nvSpPr>
          <p:cNvPr id="21" name="TextBox 20" descr="[8]"/>
          <p:cNvSpPr txBox="1"/>
          <p:nvPr/>
        </p:nvSpPr>
        <p:spPr>
          <a:xfrm>
            <a:off x="548640" y="4864608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[8]</a:t>
            </a:r>
          </a:p>
        </p:txBody>
      </p:sp>
      <p:sp>
        <p:nvSpPr>
          <p:cNvPr id="22" name="TextBox 21" descr="Myers, V., et al. (2023). Goal Representations for Instruction Following (GRIF). CoRL. arXiv:2307.00117."/>
          <p:cNvSpPr txBox="1"/>
          <p:nvPr/>
        </p:nvSpPr>
        <p:spPr>
          <a:xfrm>
            <a:off x="1051560" y="4864608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Myers, V., et al. (2023). Goal Representations for Instruction Following (GRIF). CoRL. arXiv:2307.00117.</a:t>
            </a:r>
          </a:p>
        </p:txBody>
      </p:sp>
      <p:sp>
        <p:nvSpPr>
          <p:cNvPr id="23" name="TextBox 22" descr="[9]"/>
          <p:cNvSpPr txBox="1"/>
          <p:nvPr/>
        </p:nvSpPr>
        <p:spPr>
          <a:xfrm>
            <a:off x="548640" y="5266944"/>
            <a:ext cx="4572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7F7C"/>
                </a:solidFill>
                <a:latin typeface="Arial"/>
              </a:defRPr>
            </a:pPr>
            <a:r>
              <a:t>[9]</a:t>
            </a:r>
          </a:p>
        </p:txBody>
      </p:sp>
      <p:sp>
        <p:nvSpPr>
          <p:cNvPr id="24" name="TextBox 23" descr="Chen, D., et al. (2025). VL-JEPA: Joint Embedding Predictive Architecture for Vision-Language. arXiv:2512.10942."/>
          <p:cNvSpPr txBox="1"/>
          <p:nvPr/>
        </p:nvSpPr>
        <p:spPr>
          <a:xfrm>
            <a:off x="1051560" y="5266944"/>
            <a:ext cx="10515600" cy="365760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42A3B"/>
                </a:solidFill>
                <a:latin typeface="Arial"/>
              </a:defRPr>
            </a:pPr>
            <a:r>
              <a:t>Chen, D., et al. (2025). VL-JEPA: Joint Embedding Predictive Architecture for Vision-Language. arXiv:2512.10942.</a:t>
            </a:r>
          </a:p>
        </p:txBody>
      </p:sp>
      <p:sp>
        <p:nvSpPr>
          <p:cNvPr id="25" name="TextBox 24" descr="Code, frozen claims and all result files: github.com/velosipedistufa/JEPA · branch 5090-run-demo-breadcrumbs"/>
          <p:cNvSpPr txBox="1"/>
          <p:nvPr/>
        </p:nvSpPr>
        <p:spPr>
          <a:xfrm>
            <a:off x="548640" y="5943600"/>
            <a:ext cx="10972800" cy="292608"/>
          </a:xfrm>
          <a:prstGeom prst="rect">
            <a:avLst/>
          </a:prstGeom>
          <a:noFill/>
        </p:spPr>
        <p:txBody>
          <a:bodyPr wrap="square" lIns="0" rIns="0" tIns="1270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1717B"/>
                </a:solidFill>
                <a:latin typeface="Arial"/>
              </a:defRPr>
            </a:pPr>
            <a:r>
              <a:t>Code, frozen claims and all result files: github.com/velosipedistufa/JEPA · branch 5090-run-demo-breadcrumbs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over demo breadcrumbs — Frozen LeWorldModel on Push-T</dc:title>
  <dc:subject>Visual defence deck rebuilt from the lead-authored PDF and saved JEPA run artifacts</dc:subject>
  <dc:creator>Alexander Bashirov; Didar Seyidov; Faith Ogunwoye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